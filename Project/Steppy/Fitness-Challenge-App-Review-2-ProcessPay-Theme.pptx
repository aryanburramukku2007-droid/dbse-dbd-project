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AED"/>
        </a:solidFill>
      </p:bgPr>
    </p:bg>
    <p:spTree>
      <p:nvGrpSpPr>
        <p:cNvPr id="1" name=""/>
        <p:cNvGrpSpPr/>
        <p:nvPr/>
      </p:nvGrpSpPr>
      <p:grpSpPr>
        <a:xfrm>
          <a:off x="0" y="0"/>
          <a:ext cx="0" cy="0"/>
          <a:chOff x="0" y="0"/>
          <a:chExt cx="0" cy="0"/>
        </a:xfrm>
      </p:grpSpPr>
      <p:sp>
        <p:nvSpPr>
          <p:cNvPr id="2" name="Shape 0"/>
          <p:cNvSpPr/>
          <p:nvPr/>
        </p:nvSpPr>
        <p:spPr>
          <a:xfrm>
            <a:off x="384048" y="91440"/>
            <a:ext cx="11430000" cy="6583680"/>
          </a:xfrm>
          <a:prstGeom prst="rect">
            <a:avLst/>
          </a:prstGeom>
          <a:solidFill>
            <a:srgbClr val="F7FAED">
              <a:alpha val="0"/>
            </a:srgbClr>
          </a:solidFill>
          <a:ln w="12700">
            <a:solidFill>
              <a:srgbClr val="CBD6BB"/>
            </a:solidFill>
            <a:prstDash val="solid"/>
          </a:ln>
        </p:spPr>
      </p:sp>
      <p:pic>
        <p:nvPicPr>
          <p:cNvPr id="3" name="Image 0" descr="/mnt/data/mlppt_unzip/ppt/media/image1.png">    </p:cNvPr>
          <p:cNvPicPr>
            <a:picLocks noChangeAspect="1"/>
          </p:cNvPicPr>
          <p:nvPr/>
        </p:nvPicPr>
        <p:blipFill>
          <a:blip r:embed="rId1"/>
          <a:stretch>
            <a:fillRect/>
          </a:stretch>
        </p:blipFill>
        <p:spPr>
          <a:xfrm>
            <a:off x="658368" y="173736"/>
            <a:ext cx="1243584" cy="457200"/>
          </a:xfrm>
          <a:prstGeom prst="rect">
            <a:avLst/>
          </a:prstGeom>
        </p:spPr>
      </p:pic>
      <p:sp>
        <p:nvSpPr>
          <p:cNvPr id="4" name="Text 1"/>
          <p:cNvSpPr/>
          <p:nvPr/>
        </p:nvSpPr>
        <p:spPr>
          <a:xfrm>
            <a:off x="2039112" y="164592"/>
            <a:ext cx="6858000" cy="438912"/>
          </a:xfrm>
          <a:prstGeom prst="rect">
            <a:avLst/>
          </a:prstGeom>
          <a:noFill/>
          <a:ln/>
        </p:spPr>
        <p:txBody>
          <a:bodyPr wrap="square" lIns="762" tIns="762" rIns="762" bIns="762" rtlCol="0" anchor="ctr">
            <a:normAutofit/>
          </a:bodyPr>
          <a:lstStyle/>
          <a:p>
            <a:pPr algn="l" indent="0" marL="0">
              <a:buNone/>
            </a:pPr>
            <a:r>
              <a:rPr lang="en-US" sz="2300" b="1" dirty="0">
                <a:solidFill>
                  <a:srgbClr val="173242"/>
                </a:solidFill>
                <a:latin typeface="Lato" pitchFamily="34" charset="0"/>
                <a:ea typeface="Lato" pitchFamily="34" charset="-122"/>
                <a:cs typeface="Lato" pitchFamily="34" charset="-120"/>
              </a:rPr>
              <a:t>FITNESS CHALLENGE APP</a:t>
            </a:r>
            <a:endParaRPr lang="en-US" sz="2300" dirty="0"/>
          </a:p>
        </p:txBody>
      </p:sp>
      <p:sp>
        <p:nvSpPr>
          <p:cNvPr id="5" name="Shape 2"/>
          <p:cNvSpPr/>
          <p:nvPr/>
        </p:nvSpPr>
        <p:spPr>
          <a:xfrm>
            <a:off x="384048" y="758952"/>
            <a:ext cx="11430000" cy="0"/>
          </a:xfrm>
          <a:prstGeom prst="line">
            <a:avLst/>
          </a:prstGeom>
          <a:noFill/>
          <a:ln w="11430">
            <a:solidFill>
              <a:srgbClr val="173242"/>
            </a:solidFill>
            <a:prstDash val="solid"/>
          </a:ln>
        </p:spPr>
      </p:sp>
      <p:sp>
        <p:nvSpPr>
          <p:cNvPr id="6" name="Text 3"/>
          <p:cNvSpPr/>
          <p:nvPr/>
        </p:nvSpPr>
        <p:spPr>
          <a:xfrm>
            <a:off x="9189720" y="859536"/>
            <a:ext cx="2176272" cy="164592"/>
          </a:xfrm>
          <a:prstGeom prst="rect">
            <a:avLst/>
          </a:prstGeom>
          <a:noFill/>
          <a:ln/>
        </p:spPr>
        <p:txBody>
          <a:bodyPr wrap="square" lIns="762" tIns="762" rIns="762" bIns="762" rtlCol="0" anchor="ctr">
            <a:normAutofit/>
          </a:bodyPr>
          <a:lstStyle/>
          <a:p>
            <a:pPr algn="r" indent="0" marL="0">
              <a:buNone/>
            </a:pPr>
            <a:r>
              <a:rPr lang="en-US" sz="780" dirty="0">
                <a:solidFill>
                  <a:srgbClr val="173242"/>
                </a:solidFill>
                <a:latin typeface="Lato" pitchFamily="34" charset="0"/>
                <a:ea typeface="Lato" pitchFamily="34" charset="-122"/>
                <a:cs typeface="Lato" pitchFamily="34" charset="-120"/>
              </a:rPr>
              <a:t>REVIEW 2 | CSE | SECTION 04 | TEAM 10</a:t>
            </a:r>
            <a:endParaRPr lang="en-US" sz="780" dirty="0"/>
          </a:p>
        </p:txBody>
      </p:sp>
      <p:sp>
        <p:nvSpPr>
          <p:cNvPr id="7" name="Shape 4"/>
          <p:cNvSpPr/>
          <p:nvPr/>
        </p:nvSpPr>
        <p:spPr>
          <a:xfrm>
            <a:off x="384048" y="1069848"/>
            <a:ext cx="11430000" cy="0"/>
          </a:xfrm>
          <a:prstGeom prst="line">
            <a:avLst/>
          </a:prstGeom>
          <a:noFill/>
          <a:ln w="11430">
            <a:solidFill>
              <a:srgbClr val="173242"/>
            </a:solidFill>
            <a:prstDash val="solid"/>
          </a:ln>
        </p:spPr>
      </p:sp>
      <p:sp>
        <p:nvSpPr>
          <p:cNvPr id="8" name="Shape 5"/>
          <p:cNvSpPr/>
          <p:nvPr/>
        </p:nvSpPr>
        <p:spPr>
          <a:xfrm>
            <a:off x="384048" y="6053328"/>
            <a:ext cx="11430000" cy="0"/>
          </a:xfrm>
          <a:prstGeom prst="line">
            <a:avLst/>
          </a:prstGeom>
          <a:noFill/>
          <a:ln w="11430">
            <a:solidFill>
              <a:srgbClr val="173242"/>
            </a:solidFill>
            <a:prstDash val="solid"/>
          </a:ln>
        </p:spPr>
      </p:sp>
      <p:sp>
        <p:nvSpPr>
          <p:cNvPr id="9" name="Text 6"/>
          <p:cNvSpPr/>
          <p:nvPr/>
        </p:nvSpPr>
        <p:spPr>
          <a:xfrm>
            <a:off x="713232" y="6172200"/>
            <a:ext cx="8138160" cy="164592"/>
          </a:xfrm>
          <a:prstGeom prst="rect">
            <a:avLst/>
          </a:prstGeom>
          <a:noFill/>
          <a:ln/>
        </p:spPr>
        <p:txBody>
          <a:bodyPr wrap="square" lIns="762" tIns="762" rIns="762" bIns="762" rtlCol="0" anchor="ctr">
            <a:normAutofit/>
          </a:bodyPr>
          <a:lstStyle/>
          <a:p>
            <a:r>
              <a:rPr sz="800"/>
              <a:t>FITNESS CHALLENGE APP WITH STEP GAMIFICATION</a:t>
            </a:r>
          </a:p>
        </p:txBody>
      </p:sp>
      <p:sp>
        <p:nvSpPr>
          <p:cNvPr id="10" name="Text 7"/>
          <p:cNvSpPr/>
          <p:nvPr/>
        </p:nvSpPr>
        <p:spPr>
          <a:xfrm>
            <a:off x="10241280" y="6172200"/>
            <a:ext cx="1143000" cy="164592"/>
          </a:xfrm>
          <a:prstGeom prst="rect">
            <a:avLst/>
          </a:prstGeom>
          <a:noFill/>
          <a:ln/>
        </p:spPr>
        <p:txBody>
          <a:bodyPr wrap="square" lIns="762" tIns="762" rIns="762" bIns="762" rtlCol="0" anchor="ctr">
            <a:normAutofit/>
          </a:bodyPr>
          <a:lstStyle/>
          <a:p>
            <a:pPr algn="r" indent="0" marL="0">
              <a:buNone/>
            </a:pPr>
            <a:r>
              <a:rPr lang="en-US" sz="690" dirty="0">
                <a:solidFill>
                  <a:srgbClr val="173242"/>
                </a:solidFill>
                <a:latin typeface="Lato" pitchFamily="34" charset="0"/>
                <a:ea typeface="Lato" pitchFamily="34" charset="-122"/>
                <a:cs typeface="Lato" pitchFamily="34" charset="-120"/>
              </a:rPr>
              <a:t>A.Y. 2025–26</a:t>
            </a:r>
            <a:endParaRPr lang="en-US" sz="690" dirty="0"/>
          </a:p>
        </p:txBody>
      </p:sp>
      <p:sp>
        <p:nvSpPr>
          <p:cNvPr id="11" name="Shape 8"/>
          <p:cNvSpPr/>
          <p:nvPr/>
        </p:nvSpPr>
        <p:spPr>
          <a:xfrm>
            <a:off x="384048" y="6364224"/>
            <a:ext cx="11430000" cy="0"/>
          </a:xfrm>
          <a:prstGeom prst="line">
            <a:avLst/>
          </a:prstGeom>
          <a:noFill/>
          <a:ln w="11430">
            <a:solidFill>
              <a:srgbClr val="173242"/>
            </a:solidFill>
            <a:prstDash val="solid"/>
          </a:ln>
        </p:spPr>
      </p:sp>
      <p:sp>
        <p:nvSpPr>
          <p:cNvPr id="12" name="Text 9"/>
          <p:cNvSpPr/>
          <p:nvPr/>
        </p:nvSpPr>
        <p:spPr>
          <a:xfrm>
            <a:off x="868680" y="1481328"/>
            <a:ext cx="5669280" cy="2743200"/>
          </a:xfrm>
          <a:prstGeom prst="rect">
            <a:avLst/>
          </a:prstGeom>
          <a:noFill/>
          <a:ln/>
        </p:spPr>
        <p:txBody>
          <a:bodyPr wrap="square" lIns="762" tIns="762" rIns="762" bIns="762" rtlCol="0" anchor="ctr">
            <a:normAutofit/>
          </a:bodyPr>
          <a:lstStyle/>
          <a:p>
            <a:r>
              <a:rPr sz="3000" b="1"/>
              <a:t>FITNESS CHALLENGE</a:t>
            </a:r>
          </a:p>
          <a:p>
            <a:r>
              <a:rPr sz="3000" b="1"/>
              <a:t>APP WITH STEP</a:t>
            </a:r>
          </a:p>
          <a:p>
            <a:r>
              <a:rPr sz="3000" b="1"/>
              <a:t>GAMIFICATION</a:t>
            </a:r>
          </a:p>
        </p:txBody>
      </p:sp>
      <p:sp>
        <p:nvSpPr>
          <p:cNvPr id="13" name="Text 10"/>
          <p:cNvSpPr/>
          <p:nvPr/>
        </p:nvSpPr>
        <p:spPr>
          <a:xfrm>
            <a:off x="6903720" y="1600200"/>
            <a:ext cx="4160520" cy="822960"/>
          </a:xfrm>
          <a:prstGeom prst="rect">
            <a:avLst/>
          </a:prstGeom>
          <a:solidFill>
            <a:srgbClr val="EEF4DD"/>
          </a:solidFill>
          <a:ln w="12700">
            <a:solidFill>
              <a:srgbClr val="173242"/>
            </a:solidFill>
          </a:ln>
        </p:spPr>
        <p:txBody>
          <a:bodyPr wrap="square" lIns="762" tIns="762" rIns="762" bIns="762" rtlCol="0" anchor="ctr">
            <a:normAutofit/>
          </a:bodyPr>
          <a:lstStyle/>
          <a:p>
            <a:r>
              <a:rPr sz="1700"/>
              <a:t>Android (Kotlin) client with Java / Spring Boot REST APIs and MySQL for activity, challenges and reward data.</a:t>
            </a:r>
          </a:p>
        </p:txBody>
      </p:sp>
      <p:sp>
        <p:nvSpPr>
          <p:cNvPr id="14" name="Text 11"/>
          <p:cNvSpPr/>
          <p:nvPr/>
        </p:nvSpPr>
        <p:spPr>
          <a:xfrm>
            <a:off x="6903720" y="2724912"/>
            <a:ext cx="1508760" cy="384048"/>
          </a:xfrm>
          <a:prstGeom prst="rect">
            <a:avLst/>
          </a:prstGeom>
          <a:solidFill>
            <a:srgbClr val="173242"/>
          </a:solidFill>
          <a:ln w="12700">
            <a:solidFill>
              <a:srgbClr val="879587"/>
            </a:solidFill>
          </a:ln>
        </p:spPr>
        <p:txBody>
          <a:bodyPr wrap="square" lIns="762" tIns="762" rIns="762" bIns="762" rtlCol="0" anchor="ctr">
            <a:normAutofit/>
          </a:bodyPr>
          <a:lstStyle/>
          <a:p>
            <a:pPr algn="ctr" indent="0" marL="0">
              <a:buNone/>
            </a:pPr>
            <a:r>
              <a:rPr lang="en-US" sz="900" b="1" dirty="0">
                <a:solidFill>
                  <a:srgbClr val="FFFFFF"/>
                </a:solidFill>
                <a:latin typeface="Lato" pitchFamily="34" charset="0"/>
                <a:ea typeface="Lato" pitchFamily="34" charset="-122"/>
                <a:cs typeface="Lato" pitchFamily="34" charset="-120"/>
              </a:rPr>
              <a:t>CLIENT</a:t>
            </a:r>
            <a:endParaRPr lang="en-US" sz="900" dirty="0"/>
          </a:p>
        </p:txBody>
      </p:sp>
      <p:sp>
        <p:nvSpPr>
          <p:cNvPr id="15" name="Text 12"/>
          <p:cNvSpPr/>
          <p:nvPr/>
        </p:nvSpPr>
        <p:spPr>
          <a:xfrm>
            <a:off x="8412480" y="2724912"/>
            <a:ext cx="2907792" cy="384048"/>
          </a:xfrm>
          <a:prstGeom prst="rect">
            <a:avLst/>
          </a:prstGeom>
          <a:solidFill>
            <a:srgbClr val="FAFCF0"/>
          </a:solidFill>
          <a:ln w="12700">
            <a:solidFill>
              <a:srgbClr val="879587"/>
            </a:solidFill>
          </a:ln>
        </p:spPr>
        <p:txBody>
          <a:bodyPr wrap="square" lIns="762" tIns="762" rIns="762" bIns="762" rtlCol="0" anchor="ctr">
            <a:normAutofit/>
          </a:bodyPr>
          <a:lstStyle/>
          <a:p>
            <a:pPr algn="l" indent="0" marL="0">
              <a:buNone/>
            </a:pPr>
            <a:r>
              <a:rPr lang="en-US" sz="900" b="1" dirty="0">
                <a:solidFill>
                  <a:srgbClr val="173242"/>
                </a:solidFill>
                <a:latin typeface="Lato" pitchFamily="34" charset="0"/>
                <a:ea typeface="Lato" pitchFamily="34" charset="-122"/>
                <a:cs typeface="Lato" pitchFamily="34" charset="-120"/>
              </a:rPr>
              <a:t>ANDROID (KOTLIN)</a:t>
            </a:r>
            <a:endParaRPr lang="en-US" sz="900" dirty="0"/>
          </a:p>
        </p:txBody>
      </p:sp>
      <p:sp>
        <p:nvSpPr>
          <p:cNvPr id="16" name="Text 13"/>
          <p:cNvSpPr/>
          <p:nvPr/>
        </p:nvSpPr>
        <p:spPr>
          <a:xfrm>
            <a:off x="6903720" y="3145536"/>
            <a:ext cx="1508760" cy="384048"/>
          </a:xfrm>
          <a:prstGeom prst="rect">
            <a:avLst/>
          </a:prstGeom>
          <a:solidFill>
            <a:srgbClr val="173242"/>
          </a:solidFill>
          <a:ln w="12700">
            <a:solidFill>
              <a:srgbClr val="879587"/>
            </a:solidFill>
          </a:ln>
        </p:spPr>
        <p:txBody>
          <a:bodyPr wrap="square" lIns="762" tIns="762" rIns="762" bIns="762" rtlCol="0" anchor="ctr">
            <a:normAutofit/>
          </a:bodyPr>
          <a:lstStyle/>
          <a:p>
            <a:pPr algn="ctr" indent="0" marL="0">
              <a:buNone/>
            </a:pPr>
            <a:r>
              <a:rPr lang="en-US" sz="900" b="1" dirty="0">
                <a:solidFill>
                  <a:srgbClr val="FFFFFF"/>
                </a:solidFill>
                <a:latin typeface="Lato" pitchFamily="34" charset="0"/>
                <a:ea typeface="Lato" pitchFamily="34" charset="-122"/>
                <a:cs typeface="Lato" pitchFamily="34" charset="-120"/>
              </a:rPr>
              <a:t>BACKEND</a:t>
            </a:r>
            <a:endParaRPr lang="en-US" sz="900" dirty="0"/>
          </a:p>
        </p:txBody>
      </p:sp>
      <p:sp>
        <p:nvSpPr>
          <p:cNvPr id="17" name="Text 14"/>
          <p:cNvSpPr/>
          <p:nvPr/>
        </p:nvSpPr>
        <p:spPr>
          <a:xfrm>
            <a:off x="8412480" y="3145536"/>
            <a:ext cx="2907792" cy="384048"/>
          </a:xfrm>
          <a:prstGeom prst="rect">
            <a:avLst/>
          </a:prstGeom>
          <a:solidFill>
            <a:srgbClr val="FAFCF0"/>
          </a:solidFill>
          <a:ln w="12700">
            <a:solidFill>
              <a:srgbClr val="879587"/>
            </a:solidFill>
          </a:ln>
        </p:spPr>
        <p:txBody>
          <a:bodyPr wrap="square" lIns="762" tIns="762" rIns="762" bIns="762" rtlCol="0" anchor="ctr">
            <a:normAutofit/>
          </a:bodyPr>
          <a:lstStyle/>
          <a:p>
            <a:pPr algn="l" indent="0" marL="0">
              <a:buNone/>
            </a:pPr>
            <a:r>
              <a:rPr lang="en-US" sz="900" b="1" dirty="0">
                <a:solidFill>
                  <a:srgbClr val="173242"/>
                </a:solidFill>
                <a:latin typeface="Lato" pitchFamily="34" charset="0"/>
                <a:ea typeface="Lato" pitchFamily="34" charset="-122"/>
                <a:cs typeface="Lato" pitchFamily="34" charset="-120"/>
              </a:rPr>
              <a:t>JAVA + SPRING BOOT</a:t>
            </a:r>
            <a:endParaRPr lang="en-US" sz="900" dirty="0"/>
          </a:p>
        </p:txBody>
      </p:sp>
      <p:sp>
        <p:nvSpPr>
          <p:cNvPr id="18" name="Text 15"/>
          <p:cNvSpPr/>
          <p:nvPr/>
        </p:nvSpPr>
        <p:spPr>
          <a:xfrm>
            <a:off x="6903720" y="3566160"/>
            <a:ext cx="1508760" cy="384048"/>
          </a:xfrm>
          <a:prstGeom prst="rect">
            <a:avLst/>
          </a:prstGeom>
          <a:solidFill>
            <a:srgbClr val="173242"/>
          </a:solidFill>
          <a:ln w="12700">
            <a:solidFill>
              <a:srgbClr val="879587"/>
            </a:solidFill>
          </a:ln>
        </p:spPr>
        <p:txBody>
          <a:bodyPr wrap="square" lIns="762" tIns="762" rIns="762" bIns="762" rtlCol="0" anchor="ctr">
            <a:normAutofit/>
          </a:bodyPr>
          <a:lstStyle/>
          <a:p>
            <a:pPr algn="ctr" indent="0" marL="0">
              <a:buNone/>
            </a:pPr>
            <a:r>
              <a:rPr lang="en-US" sz="900" b="1" dirty="0">
                <a:solidFill>
                  <a:srgbClr val="FFFFFF"/>
                </a:solidFill>
                <a:latin typeface="Lato" pitchFamily="34" charset="0"/>
                <a:ea typeface="Lato" pitchFamily="34" charset="-122"/>
                <a:cs typeface="Lato" pitchFamily="34" charset="-120"/>
              </a:rPr>
              <a:t>DATABASE</a:t>
            </a:r>
            <a:endParaRPr lang="en-US" sz="900" dirty="0"/>
          </a:p>
        </p:txBody>
      </p:sp>
      <p:sp>
        <p:nvSpPr>
          <p:cNvPr id="19" name="Text 16"/>
          <p:cNvSpPr/>
          <p:nvPr/>
        </p:nvSpPr>
        <p:spPr>
          <a:xfrm>
            <a:off x="8412480" y="3566160"/>
            <a:ext cx="2907792" cy="384048"/>
          </a:xfrm>
          <a:prstGeom prst="rect">
            <a:avLst/>
          </a:prstGeom>
          <a:solidFill>
            <a:srgbClr val="FAFCF0"/>
          </a:solidFill>
          <a:ln w="12700">
            <a:solidFill>
              <a:srgbClr val="879587"/>
            </a:solidFill>
          </a:ln>
        </p:spPr>
        <p:txBody>
          <a:bodyPr wrap="square" lIns="762" tIns="762" rIns="762" bIns="762" rtlCol="0" anchor="ctr">
            <a:normAutofit/>
          </a:bodyPr>
          <a:lstStyle/>
          <a:p>
            <a:pPr algn="l" indent="0" marL="0">
              <a:buNone/>
            </a:pPr>
            <a:r>
              <a:rPr lang="en-US" sz="900" b="1" dirty="0">
                <a:solidFill>
                  <a:srgbClr val="173242"/>
                </a:solidFill>
                <a:latin typeface="Lato" pitchFamily="34" charset="0"/>
                <a:ea typeface="Lato" pitchFamily="34" charset="-122"/>
                <a:cs typeface="Lato" pitchFamily="34" charset="-120"/>
              </a:rPr>
              <a:t>MYSQL</a:t>
            </a:r>
            <a:endParaRPr lang="en-US" sz="900" dirty="0"/>
          </a:p>
        </p:txBody>
      </p:sp>
      <p:sp>
        <p:nvSpPr>
          <p:cNvPr id="20" name="Text 17"/>
          <p:cNvSpPr/>
          <p:nvPr/>
        </p:nvSpPr>
        <p:spPr>
          <a:xfrm>
            <a:off x="6903720" y="3986784"/>
            <a:ext cx="1508760" cy="384048"/>
          </a:xfrm>
          <a:prstGeom prst="rect">
            <a:avLst/>
          </a:prstGeom>
          <a:solidFill>
            <a:srgbClr val="173242"/>
          </a:solidFill>
          <a:ln w="12700">
            <a:solidFill>
              <a:srgbClr val="879587"/>
            </a:solidFill>
          </a:ln>
        </p:spPr>
        <p:txBody>
          <a:bodyPr wrap="square" lIns="762" tIns="762" rIns="762" bIns="762" rtlCol="0" anchor="ctr">
            <a:normAutofit/>
          </a:bodyPr>
          <a:lstStyle/>
          <a:p>
            <a:pPr algn="ctr" indent="0" marL="0">
              <a:buNone/>
            </a:pPr>
            <a:r>
              <a:rPr lang="en-US" sz="900" b="1" dirty="0">
                <a:solidFill>
                  <a:srgbClr val="FFFFFF"/>
                </a:solidFill>
                <a:latin typeface="Lato" pitchFamily="34" charset="0"/>
                <a:ea typeface="Lato" pitchFamily="34" charset="-122"/>
                <a:cs typeface="Lato" pitchFamily="34" charset="-120"/>
              </a:rPr>
              <a:t>TEAM</a:t>
            </a:r>
            <a:endParaRPr lang="en-US" sz="900" dirty="0"/>
          </a:p>
        </p:txBody>
      </p:sp>
      <p:sp>
        <p:nvSpPr>
          <p:cNvPr id="21" name="Text 18"/>
          <p:cNvSpPr/>
          <p:nvPr/>
        </p:nvSpPr>
        <p:spPr>
          <a:xfrm>
            <a:off x="8412480" y="3986784"/>
            <a:ext cx="2907792" cy="384048"/>
          </a:xfrm>
          <a:prstGeom prst="rect">
            <a:avLst/>
          </a:prstGeom>
          <a:solidFill>
            <a:srgbClr val="FAFCF0"/>
          </a:solidFill>
          <a:ln w="12700">
            <a:solidFill>
              <a:srgbClr val="879587"/>
            </a:solidFill>
          </a:ln>
        </p:spPr>
        <p:txBody>
          <a:bodyPr wrap="square" lIns="762" tIns="762" rIns="762" bIns="762" rtlCol="0" anchor="ctr">
            <a:normAutofit/>
          </a:bodyPr>
          <a:lstStyle/>
          <a:p>
            <a:pPr algn="l" indent="0" marL="0">
              <a:buNone/>
            </a:pPr>
            <a:r>
              <a:rPr lang="en-US" sz="900" b="1" dirty="0">
                <a:solidFill>
                  <a:srgbClr val="173242"/>
                </a:solidFill>
                <a:latin typeface="Lato" pitchFamily="34" charset="0"/>
                <a:ea typeface="Lato" pitchFamily="34" charset="-122"/>
                <a:cs typeface="Lato" pitchFamily="34" charset="-120"/>
              </a:rPr>
              <a:t>10</a:t>
            </a:r>
            <a:endParaRPr lang="en-US" sz="900" dirty="0"/>
          </a:p>
        </p:txBody>
      </p:sp>
      <p:sp>
        <p:nvSpPr>
          <p:cNvPr id="22" name="Text 19"/>
          <p:cNvSpPr/>
          <p:nvPr/>
        </p:nvSpPr>
        <p:spPr>
          <a:xfrm>
            <a:off x="914400" y="4892040"/>
            <a:ext cx="5074920" cy="841248"/>
          </a:xfrm>
          <a:prstGeom prst="rect">
            <a:avLst/>
          </a:prstGeom>
          <a:solidFill>
            <a:srgbClr val="FAFCF0"/>
          </a:solidFill>
          <a:ln w="12700">
            <a:solidFill>
              <a:srgbClr val="176563"/>
            </a:solidFill>
          </a:ln>
        </p:spPr>
        <p:txBody>
          <a:bodyPr wrap="square" lIns="762" tIns="762" rIns="762" bIns="762" rtlCol="0" anchor="ctr">
            <a:normAutofit/>
          </a:bodyPr>
          <a:lstStyle/>
          <a:p>
            <a:r>
              <a:rPr sz="1200"/>
              <a:t>TEAM MEMBERS</a:t>
            </a:r>
          </a:p>
          <a:p>
            <a:r>
              <a:rPr sz="1200"/>
              <a:t>PAPISETTY SHASHE PREETHAM — 2520030534</a:t>
            </a:r>
          </a:p>
          <a:p>
            <a:r>
              <a:rPr sz="1200"/>
              <a:t>BURRAMUKKU ARYAN — 2520030343</a:t>
            </a:r>
          </a:p>
          <a:p>
            <a:r>
              <a:rPr sz="1200"/>
              <a:t>UPPALAPATI VENKATA NAGA VARSHITHA — 2520030206</a:t>
            </a:r>
          </a:p>
        </p:txBody>
      </p:sp>
      <p:sp>
        <p:nvSpPr>
          <p:cNvPr id="23" name="Text 20"/>
          <p:cNvSpPr/>
          <p:nvPr/>
        </p:nvSpPr>
        <p:spPr>
          <a:xfrm>
            <a:off x="6903720" y="4892040"/>
            <a:ext cx="4251960" cy="731520"/>
          </a:xfrm>
          <a:prstGeom prst="rect">
            <a:avLst/>
          </a:prstGeom>
          <a:solidFill>
            <a:srgbClr val="FAFCF0"/>
          </a:solidFill>
          <a:ln w="12700">
            <a:solidFill>
              <a:srgbClr val="9F303A"/>
            </a:solidFill>
          </a:ln>
        </p:spPr>
        <p:txBody>
          <a:bodyPr wrap="square" lIns="762" tIns="762" rIns="762" bIns="762" rtlCol="0" anchor="ctr">
            <a:normAutofit/>
          </a:bodyPr>
          <a:lstStyle/>
          <a:p>
            <a:pPr algn="l" indent="0" marL="0">
              <a:buNone/>
            </a:pPr>
            <a:r>
              <a:rPr lang="en-US" sz="1500" dirty="0">
                <a:solidFill>
                  <a:srgbClr val="173242"/>
                </a:solidFill>
                <a:latin typeface="Lato" pitchFamily="34" charset="0"/>
                <a:ea typeface="Lato" pitchFamily="34" charset="-122"/>
                <a:cs typeface="Lato" pitchFamily="34" charset="-120"/>
              </a:rPr>
              <a:t>GUIDED BY: Dr S. Spandana</a:t>
            </a:r>
            <a:endParaRPr lang="en-US" sz="1500" dirty="0"/>
          </a:p>
        </p:txBody>
      </p:sp>
      <p:sp>
        <p:nvSpPr>
          <p:cNvPr id="24" name="Text 21"/>
          <p:cNvSpPr/>
          <p:nvPr/>
        </p:nvSpPr>
        <p:spPr>
          <a:xfrm>
            <a:off x="731520" y="6172200"/>
            <a:ext cx="6949440" cy="164592"/>
          </a:xfrm>
          <a:prstGeom prst="rect">
            <a:avLst/>
          </a:prstGeom>
          <a:noFill/>
          <a:ln/>
        </p:spPr>
        <p:txBody>
          <a:bodyPr wrap="square" lIns="762" tIns="762" rIns="762" bIns="762" rtlCol="0" anchor="ctr">
            <a:normAutofit/>
          </a:bodyPr>
          <a:lstStyle/>
          <a:p>
            <a:pPr algn="l" indent="0" marL="0">
              <a:buNone/>
            </a:pPr>
            <a:r>
              <a:rPr lang="en-US" sz="690" dirty="0">
                <a:solidFill>
                  <a:srgbClr val="173242"/>
                </a:solidFill>
                <a:latin typeface="Lato" pitchFamily="34" charset="0"/>
                <a:ea typeface="Lato" pitchFamily="34" charset="-122"/>
                <a:cs typeface="Lato" pitchFamily="34" charset="-120"/>
              </a:rPr>
              <a:t/>
            </a:r>
            <a:endParaRPr lang="en-US" sz="69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AED"/>
        </a:solidFill>
      </p:bgPr>
    </p:bg>
    <p:spTree>
      <p:nvGrpSpPr>
        <p:cNvPr id="1" name=""/>
        <p:cNvGrpSpPr/>
        <p:nvPr/>
      </p:nvGrpSpPr>
      <p:grpSpPr>
        <a:xfrm>
          <a:off x="0" y="0"/>
          <a:ext cx="0" cy="0"/>
          <a:chOff x="0" y="0"/>
          <a:chExt cx="0" cy="0"/>
        </a:xfrm>
      </p:grpSpPr>
      <p:sp>
        <p:nvSpPr>
          <p:cNvPr id="2" name="Shape 0"/>
          <p:cNvSpPr/>
          <p:nvPr/>
        </p:nvSpPr>
        <p:spPr>
          <a:xfrm>
            <a:off x="384048" y="91440"/>
            <a:ext cx="11430000" cy="6583680"/>
          </a:xfrm>
          <a:prstGeom prst="rect">
            <a:avLst/>
          </a:prstGeom>
          <a:solidFill>
            <a:srgbClr val="F7FAED">
              <a:alpha val="0"/>
            </a:srgbClr>
          </a:solidFill>
          <a:ln w="12700">
            <a:solidFill>
              <a:srgbClr val="CBD6BB"/>
            </a:solidFill>
            <a:prstDash val="solid"/>
          </a:ln>
        </p:spPr>
      </p:sp>
      <p:pic>
        <p:nvPicPr>
          <p:cNvPr id="3" name="Image 0" descr="/mnt/data/mlppt_unzip/ppt/media/image1.png">    </p:cNvPr>
          <p:cNvPicPr>
            <a:picLocks noChangeAspect="1"/>
          </p:cNvPicPr>
          <p:nvPr/>
        </p:nvPicPr>
        <p:blipFill>
          <a:blip r:embed="rId1"/>
          <a:stretch>
            <a:fillRect/>
          </a:stretch>
        </p:blipFill>
        <p:spPr>
          <a:xfrm>
            <a:off x="658368" y="173736"/>
            <a:ext cx="1243584" cy="457200"/>
          </a:xfrm>
          <a:prstGeom prst="rect">
            <a:avLst/>
          </a:prstGeom>
        </p:spPr>
      </p:pic>
      <p:sp>
        <p:nvSpPr>
          <p:cNvPr id="4" name="Text 1"/>
          <p:cNvSpPr/>
          <p:nvPr/>
        </p:nvSpPr>
        <p:spPr>
          <a:xfrm>
            <a:off x="2039112" y="164592"/>
            <a:ext cx="6858000" cy="438912"/>
          </a:xfrm>
          <a:prstGeom prst="rect">
            <a:avLst/>
          </a:prstGeom>
          <a:noFill/>
          <a:ln/>
        </p:spPr>
        <p:txBody>
          <a:bodyPr wrap="square" lIns="762" tIns="762" rIns="762" bIns="762" rtlCol="0" anchor="ctr">
            <a:normAutofit/>
          </a:bodyPr>
          <a:lstStyle/>
          <a:p>
            <a:pPr algn="l" indent="0" marL="0">
              <a:buNone/>
            </a:pPr>
            <a:r>
              <a:rPr lang="en-US" sz="2300" b="1" dirty="0">
                <a:solidFill>
                  <a:srgbClr val="173242"/>
                </a:solidFill>
                <a:latin typeface="Lato" pitchFamily="34" charset="0"/>
                <a:ea typeface="Lato" pitchFamily="34" charset="-122"/>
                <a:cs typeface="Lato" pitchFamily="34" charset="-120"/>
              </a:rPr>
              <a:t>FITNESS CHALLENGE APP</a:t>
            </a:r>
            <a:endParaRPr lang="en-US" sz="2300" dirty="0"/>
          </a:p>
        </p:txBody>
      </p:sp>
      <p:sp>
        <p:nvSpPr>
          <p:cNvPr id="5" name="Shape 2"/>
          <p:cNvSpPr/>
          <p:nvPr/>
        </p:nvSpPr>
        <p:spPr>
          <a:xfrm>
            <a:off x="384048" y="758952"/>
            <a:ext cx="11430000" cy="0"/>
          </a:xfrm>
          <a:prstGeom prst="line">
            <a:avLst/>
          </a:prstGeom>
          <a:noFill/>
          <a:ln w="11430">
            <a:solidFill>
              <a:srgbClr val="173242"/>
            </a:solidFill>
            <a:prstDash val="solid"/>
          </a:ln>
        </p:spPr>
      </p:sp>
      <p:sp>
        <p:nvSpPr>
          <p:cNvPr id="6" name="Text 3"/>
          <p:cNvSpPr/>
          <p:nvPr/>
        </p:nvSpPr>
        <p:spPr>
          <a:xfrm>
            <a:off x="9189720" y="859536"/>
            <a:ext cx="2176272" cy="164592"/>
          </a:xfrm>
          <a:prstGeom prst="rect">
            <a:avLst/>
          </a:prstGeom>
          <a:noFill/>
          <a:ln/>
        </p:spPr>
        <p:txBody>
          <a:bodyPr wrap="square" lIns="762" tIns="762" rIns="762" bIns="762" rtlCol="0" anchor="ctr">
            <a:normAutofit/>
          </a:bodyPr>
          <a:lstStyle/>
          <a:p>
            <a:pPr algn="r" indent="0" marL="0">
              <a:buNone/>
            </a:pPr>
            <a:r>
              <a:rPr lang="en-US" sz="780" dirty="0">
                <a:solidFill>
                  <a:srgbClr val="173242"/>
                </a:solidFill>
                <a:latin typeface="Lato" pitchFamily="34" charset="0"/>
                <a:ea typeface="Lato" pitchFamily="34" charset="-122"/>
                <a:cs typeface="Lato" pitchFamily="34" charset="-120"/>
              </a:rPr>
              <a:t>REVIEW 2 | CSE | SECTION 04 | TEAM 10</a:t>
            </a:r>
            <a:endParaRPr lang="en-US" sz="780" dirty="0"/>
          </a:p>
        </p:txBody>
      </p:sp>
      <p:sp>
        <p:nvSpPr>
          <p:cNvPr id="7" name="Shape 4"/>
          <p:cNvSpPr/>
          <p:nvPr/>
        </p:nvSpPr>
        <p:spPr>
          <a:xfrm>
            <a:off x="384048" y="1069848"/>
            <a:ext cx="11430000" cy="0"/>
          </a:xfrm>
          <a:prstGeom prst="line">
            <a:avLst/>
          </a:prstGeom>
          <a:noFill/>
          <a:ln w="11430">
            <a:solidFill>
              <a:srgbClr val="173242"/>
            </a:solidFill>
            <a:prstDash val="solid"/>
          </a:ln>
        </p:spPr>
      </p:sp>
      <p:sp>
        <p:nvSpPr>
          <p:cNvPr id="8" name="Shape 5"/>
          <p:cNvSpPr/>
          <p:nvPr/>
        </p:nvSpPr>
        <p:spPr>
          <a:xfrm>
            <a:off x="384048" y="6053328"/>
            <a:ext cx="11430000" cy="0"/>
          </a:xfrm>
          <a:prstGeom prst="line">
            <a:avLst/>
          </a:prstGeom>
          <a:noFill/>
          <a:ln w="11430">
            <a:solidFill>
              <a:srgbClr val="173242"/>
            </a:solidFill>
            <a:prstDash val="solid"/>
          </a:ln>
        </p:spPr>
      </p:sp>
      <p:sp>
        <p:nvSpPr>
          <p:cNvPr id="9" name="Text 6"/>
          <p:cNvSpPr/>
          <p:nvPr/>
        </p:nvSpPr>
        <p:spPr>
          <a:xfrm>
            <a:off x="713232" y="6172200"/>
            <a:ext cx="8138160" cy="164592"/>
          </a:xfrm>
          <a:prstGeom prst="rect">
            <a:avLst/>
          </a:prstGeom>
          <a:noFill/>
          <a:ln/>
        </p:spPr>
        <p:txBody>
          <a:bodyPr wrap="square" lIns="762" tIns="762" rIns="762" bIns="762" rtlCol="0" anchor="ctr">
            <a:normAutofit/>
          </a:bodyPr>
          <a:lstStyle/>
          <a:p>
            <a:r>
              <a:rPr sz="800"/>
              <a:t>FITNESS CHALLENGE APP WITH STEP GAMIFICATION</a:t>
            </a:r>
          </a:p>
        </p:txBody>
      </p:sp>
      <p:sp>
        <p:nvSpPr>
          <p:cNvPr id="10" name="Text 7"/>
          <p:cNvSpPr/>
          <p:nvPr/>
        </p:nvSpPr>
        <p:spPr>
          <a:xfrm>
            <a:off x="10241280" y="6172200"/>
            <a:ext cx="1143000" cy="164592"/>
          </a:xfrm>
          <a:prstGeom prst="rect">
            <a:avLst/>
          </a:prstGeom>
          <a:noFill/>
          <a:ln/>
        </p:spPr>
        <p:txBody>
          <a:bodyPr wrap="square" lIns="762" tIns="762" rIns="762" bIns="762" rtlCol="0" anchor="ctr">
            <a:normAutofit/>
          </a:bodyPr>
          <a:lstStyle/>
          <a:p>
            <a:pPr algn="r" indent="0" marL="0">
              <a:buNone/>
            </a:pPr>
            <a:r>
              <a:rPr lang="en-US" sz="690" dirty="0">
                <a:solidFill>
                  <a:srgbClr val="173242"/>
                </a:solidFill>
                <a:latin typeface="Lato" pitchFamily="34" charset="0"/>
                <a:ea typeface="Lato" pitchFamily="34" charset="-122"/>
                <a:cs typeface="Lato" pitchFamily="34" charset="-120"/>
              </a:rPr>
              <a:t>A.Y. 2025–26</a:t>
            </a:r>
            <a:endParaRPr lang="en-US" sz="690" dirty="0"/>
          </a:p>
        </p:txBody>
      </p:sp>
      <p:sp>
        <p:nvSpPr>
          <p:cNvPr id="11" name="Shape 8"/>
          <p:cNvSpPr/>
          <p:nvPr/>
        </p:nvSpPr>
        <p:spPr>
          <a:xfrm>
            <a:off x="384048" y="6364224"/>
            <a:ext cx="11430000" cy="0"/>
          </a:xfrm>
          <a:prstGeom prst="line">
            <a:avLst/>
          </a:prstGeom>
          <a:noFill/>
          <a:ln w="11430">
            <a:solidFill>
              <a:srgbClr val="173242"/>
            </a:solidFill>
            <a:prstDash val="solid"/>
          </a:ln>
        </p:spPr>
      </p:sp>
      <p:sp>
        <p:nvSpPr>
          <p:cNvPr id="12" name="Text 9"/>
          <p:cNvSpPr/>
          <p:nvPr/>
        </p:nvSpPr>
        <p:spPr>
          <a:xfrm>
            <a:off x="868680" y="1353312"/>
            <a:ext cx="3154680" cy="1143000"/>
          </a:xfrm>
          <a:prstGeom prst="rect">
            <a:avLst/>
          </a:prstGeom>
          <a:noFill/>
          <a:ln/>
        </p:spPr>
        <p:txBody>
          <a:bodyPr wrap="square" lIns="762" tIns="762" rIns="762" bIns="762" rtlCol="0" anchor="ctr">
            <a:normAutofit/>
          </a:bodyPr>
          <a:lstStyle/>
          <a:p>
            <a:r>
              <a:rPr sz="3100" b="1"/>
              <a:t>IMPLEMENTATION</a:t>
            </a:r>
          </a:p>
          <a:p>
            <a:r>
              <a:rPr sz="3100" b="1"/>
              <a:t>OVERVIEW</a:t>
            </a:r>
          </a:p>
        </p:txBody>
      </p:sp>
      <p:sp>
        <p:nvSpPr>
          <p:cNvPr id="13" name="Text 10"/>
          <p:cNvSpPr/>
          <p:nvPr/>
        </p:nvSpPr>
        <p:spPr>
          <a:xfrm>
            <a:off x="4160520" y="1188720"/>
            <a:ext cx="6949440" cy="1993392"/>
          </a:xfrm>
          <a:prstGeom prst="rect">
            <a:avLst/>
          </a:prstGeom>
          <a:solidFill>
            <a:srgbClr val="EEF4DD"/>
          </a:solidFill>
          <a:ln w="12700">
            <a:solidFill>
              <a:srgbClr val="173242"/>
            </a:solidFill>
          </a:ln>
        </p:spPr>
        <p:txBody>
          <a:bodyPr wrap="square" lIns="762" tIns="762" rIns="762" bIns="762" rtlCol="0" anchor="ctr">
            <a:normAutofit/>
          </a:bodyPr>
          <a:lstStyle/>
          <a:p>
            <a:r>
              <a:rPr sz="1700"/>
              <a:t>The backend plan uses Java and Spring Boot with MySQL, while an Android (Kotlin) client consumes REST APIs. Core domains include users, step records, challenges, friends, gamification and rewards.</a:t>
            </a:r>
          </a:p>
        </p:txBody>
      </p:sp>
      <p:sp>
        <p:nvSpPr>
          <p:cNvPr id="14" name="Text 11"/>
          <p:cNvSpPr/>
          <p:nvPr/>
        </p:nvSpPr>
        <p:spPr>
          <a:xfrm>
            <a:off x="868680" y="3694176"/>
            <a:ext cx="7635240" cy="1335024"/>
          </a:xfrm>
          <a:prstGeom prst="rect">
            <a:avLst/>
          </a:prstGeom>
          <a:solidFill>
            <a:srgbClr val="FAFCF0"/>
          </a:solidFill>
          <a:ln w="12700">
            <a:solidFill>
              <a:srgbClr val="176563"/>
            </a:solidFill>
          </a:ln>
        </p:spPr>
        <p:txBody>
          <a:bodyPr wrap="square" lIns="762" tIns="762" rIns="762" bIns="762" rtlCol="0" anchor="ctr">
            <a:normAutofit/>
          </a:bodyPr>
          <a:lstStyle/>
          <a:p>
            <a:r>
              <a:rPr sz="1600"/>
              <a:t>This review organizes the submitted scope into an architecture, relational model and proposed API contract. Code, database exports and Postman results were not supplied, so implementation status remains unverified.</a:t>
            </a:r>
          </a:p>
        </p:txBody>
      </p:sp>
      <p:sp>
        <p:nvSpPr>
          <p:cNvPr id="15" name="Text 12"/>
          <p:cNvSpPr/>
          <p:nvPr/>
        </p:nvSpPr>
        <p:spPr>
          <a:xfrm>
            <a:off x="8915400" y="3657600"/>
            <a:ext cx="1234440" cy="749808"/>
          </a:xfrm>
          <a:prstGeom prst="rect">
            <a:avLst/>
          </a:prstGeom>
          <a:solidFill>
            <a:srgbClr val="FAFCF0"/>
          </a:solidFill>
          <a:ln w="15240">
            <a:solidFill>
              <a:srgbClr val="176563"/>
            </a:solidFill>
          </a:ln>
        </p:spPr>
        <p:txBody>
          <a:bodyPr wrap="square" lIns="762" tIns="762" rIns="762" bIns="762" rtlCol="0" anchor="ctr">
            <a:normAutofit/>
          </a:bodyPr>
          <a:lstStyle/>
          <a:p>
            <a:r>
              <a:rPr sz="1700" b="1"/>
              <a:t>LOGIN</a:t>
            </a:r>
          </a:p>
          <a:p>
            <a:r>
              <a:rPr sz="1700" b="1"/>
              <a:t>TOKEN</a:t>
            </a:r>
          </a:p>
        </p:txBody>
      </p:sp>
      <p:sp>
        <p:nvSpPr>
          <p:cNvPr id="16" name="Text 13"/>
          <p:cNvSpPr/>
          <p:nvPr/>
        </p:nvSpPr>
        <p:spPr>
          <a:xfrm>
            <a:off x="10287000" y="3657600"/>
            <a:ext cx="914400" cy="749808"/>
          </a:xfrm>
          <a:prstGeom prst="rect">
            <a:avLst/>
          </a:prstGeom>
          <a:solidFill>
            <a:srgbClr val="FAFCF0"/>
          </a:solidFill>
          <a:ln w="15240">
            <a:solidFill>
              <a:srgbClr val="9F303A"/>
            </a:solidFill>
          </a:ln>
        </p:spPr>
        <p:txBody>
          <a:bodyPr wrap="square" lIns="762" tIns="762" rIns="762" bIns="762" rtlCol="0" anchor="ctr">
            <a:normAutofit/>
          </a:bodyPr>
          <a:lstStyle/>
          <a:p>
            <a:r>
              <a:rPr sz="1700" b="1"/>
              <a:t>STEP</a:t>
            </a:r>
          </a:p>
          <a:p>
            <a:r>
              <a:rPr sz="1700" b="1"/>
              <a:t>RECORD</a:t>
            </a:r>
          </a:p>
        </p:txBody>
      </p:sp>
      <p:sp>
        <p:nvSpPr>
          <p:cNvPr id="17" name="Text 14"/>
          <p:cNvSpPr/>
          <p:nvPr/>
        </p:nvSpPr>
        <p:spPr>
          <a:xfrm>
            <a:off x="8915400" y="4599432"/>
            <a:ext cx="1234440" cy="749808"/>
          </a:xfrm>
          <a:prstGeom prst="rect">
            <a:avLst/>
          </a:prstGeom>
          <a:solidFill>
            <a:srgbClr val="FAFCF0"/>
          </a:solidFill>
          <a:ln w="15240">
            <a:solidFill>
              <a:srgbClr val="176563"/>
            </a:solidFill>
          </a:ln>
        </p:spPr>
        <p:txBody>
          <a:bodyPr wrap="square" lIns="762" tIns="762" rIns="762" bIns="762" rtlCol="0" anchor="ctr">
            <a:normAutofit/>
          </a:bodyPr>
          <a:lstStyle/>
          <a:p>
            <a:r>
              <a:rPr sz="1700" b="1"/>
              <a:t>CHALLENGE</a:t>
            </a:r>
          </a:p>
          <a:p>
            <a:r>
              <a:rPr sz="1700" b="1"/>
              <a:t>RANK</a:t>
            </a:r>
          </a:p>
        </p:txBody>
      </p:sp>
      <p:sp>
        <p:nvSpPr>
          <p:cNvPr id="18" name="Text 15"/>
          <p:cNvSpPr/>
          <p:nvPr/>
        </p:nvSpPr>
        <p:spPr>
          <a:xfrm>
            <a:off x="10287000" y="4599432"/>
            <a:ext cx="914400" cy="749808"/>
          </a:xfrm>
          <a:prstGeom prst="rect">
            <a:avLst/>
          </a:prstGeom>
          <a:solidFill>
            <a:srgbClr val="FAFCF0"/>
          </a:solidFill>
          <a:ln w="15240">
            <a:solidFill>
              <a:srgbClr val="9F303A"/>
            </a:solidFill>
          </a:ln>
        </p:spPr>
        <p:txBody>
          <a:bodyPr wrap="square" lIns="762" tIns="762" rIns="762" bIns="762" rtlCol="0" anchor="ctr">
            <a:normAutofit/>
          </a:bodyPr>
          <a:lstStyle/>
          <a:p>
            <a:r>
              <a:rPr sz="1700" b="1"/>
              <a:t>REWARD</a:t>
            </a:r>
          </a:p>
          <a:p>
            <a:r>
              <a:rPr sz="1700" b="1"/>
              <a:t>CHECK</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AED"/>
        </a:solidFill>
      </p:bgPr>
    </p:bg>
    <p:spTree>
      <p:nvGrpSpPr>
        <p:cNvPr id="1" name=""/>
        <p:cNvGrpSpPr/>
        <p:nvPr/>
      </p:nvGrpSpPr>
      <p:grpSpPr>
        <a:xfrm>
          <a:off x="0" y="0"/>
          <a:ext cx="0" cy="0"/>
          <a:chOff x="0" y="0"/>
          <a:chExt cx="0" cy="0"/>
        </a:xfrm>
      </p:grpSpPr>
      <p:sp>
        <p:nvSpPr>
          <p:cNvPr id="2" name="Shape 0"/>
          <p:cNvSpPr/>
          <p:nvPr/>
        </p:nvSpPr>
        <p:spPr>
          <a:xfrm>
            <a:off x="384048" y="91440"/>
            <a:ext cx="11430000" cy="6583680"/>
          </a:xfrm>
          <a:prstGeom prst="rect">
            <a:avLst/>
          </a:prstGeom>
          <a:solidFill>
            <a:srgbClr val="F7FAED">
              <a:alpha val="0"/>
            </a:srgbClr>
          </a:solidFill>
          <a:ln w="12700">
            <a:solidFill>
              <a:srgbClr val="CBD6BB"/>
            </a:solidFill>
            <a:prstDash val="solid"/>
          </a:ln>
        </p:spPr>
      </p:sp>
      <p:pic>
        <p:nvPicPr>
          <p:cNvPr id="3" name="Image 0" descr="/mnt/data/mlppt_unzip/ppt/media/image1.png">    </p:cNvPr>
          <p:cNvPicPr>
            <a:picLocks noChangeAspect="1"/>
          </p:cNvPicPr>
          <p:nvPr/>
        </p:nvPicPr>
        <p:blipFill>
          <a:blip r:embed="rId1"/>
          <a:stretch>
            <a:fillRect/>
          </a:stretch>
        </p:blipFill>
        <p:spPr>
          <a:xfrm>
            <a:off x="658368" y="173736"/>
            <a:ext cx="1243584" cy="457200"/>
          </a:xfrm>
          <a:prstGeom prst="rect">
            <a:avLst/>
          </a:prstGeom>
        </p:spPr>
      </p:pic>
      <p:sp>
        <p:nvSpPr>
          <p:cNvPr id="4" name="Text 1"/>
          <p:cNvSpPr/>
          <p:nvPr/>
        </p:nvSpPr>
        <p:spPr>
          <a:xfrm>
            <a:off x="2039112" y="164592"/>
            <a:ext cx="6858000" cy="438912"/>
          </a:xfrm>
          <a:prstGeom prst="rect">
            <a:avLst/>
          </a:prstGeom>
          <a:noFill/>
          <a:ln/>
        </p:spPr>
        <p:txBody>
          <a:bodyPr wrap="square" lIns="762" tIns="762" rIns="762" bIns="762" rtlCol="0" anchor="ctr">
            <a:normAutofit/>
          </a:bodyPr>
          <a:lstStyle/>
          <a:p>
            <a:pPr algn="l" indent="0" marL="0">
              <a:buNone/>
            </a:pPr>
            <a:r>
              <a:rPr lang="en-US" sz="2300" b="1" dirty="0">
                <a:solidFill>
                  <a:srgbClr val="173242"/>
                </a:solidFill>
                <a:latin typeface="Lato" pitchFamily="34" charset="0"/>
                <a:ea typeface="Lato" pitchFamily="34" charset="-122"/>
                <a:cs typeface="Lato" pitchFamily="34" charset="-120"/>
              </a:rPr>
              <a:t>FITNESS CHALLENGE APP</a:t>
            </a:r>
            <a:endParaRPr lang="en-US" sz="2300" dirty="0"/>
          </a:p>
        </p:txBody>
      </p:sp>
      <p:sp>
        <p:nvSpPr>
          <p:cNvPr id="5" name="Shape 2"/>
          <p:cNvSpPr/>
          <p:nvPr/>
        </p:nvSpPr>
        <p:spPr>
          <a:xfrm>
            <a:off x="384048" y="758952"/>
            <a:ext cx="11430000" cy="0"/>
          </a:xfrm>
          <a:prstGeom prst="line">
            <a:avLst/>
          </a:prstGeom>
          <a:noFill/>
          <a:ln w="11430">
            <a:solidFill>
              <a:srgbClr val="173242"/>
            </a:solidFill>
            <a:prstDash val="solid"/>
          </a:ln>
        </p:spPr>
      </p:sp>
      <p:sp>
        <p:nvSpPr>
          <p:cNvPr id="6" name="Text 3"/>
          <p:cNvSpPr/>
          <p:nvPr/>
        </p:nvSpPr>
        <p:spPr>
          <a:xfrm>
            <a:off x="9189720" y="859536"/>
            <a:ext cx="2176272" cy="164592"/>
          </a:xfrm>
          <a:prstGeom prst="rect">
            <a:avLst/>
          </a:prstGeom>
          <a:noFill/>
          <a:ln/>
        </p:spPr>
        <p:txBody>
          <a:bodyPr wrap="square" lIns="762" tIns="762" rIns="762" bIns="762" rtlCol="0" anchor="ctr">
            <a:normAutofit/>
          </a:bodyPr>
          <a:lstStyle/>
          <a:p>
            <a:pPr algn="r" indent="0" marL="0">
              <a:buNone/>
            </a:pPr>
            <a:r>
              <a:rPr lang="en-US" sz="780" dirty="0">
                <a:solidFill>
                  <a:srgbClr val="173242"/>
                </a:solidFill>
                <a:latin typeface="Lato" pitchFamily="34" charset="0"/>
                <a:ea typeface="Lato" pitchFamily="34" charset="-122"/>
                <a:cs typeface="Lato" pitchFamily="34" charset="-120"/>
              </a:rPr>
              <a:t>REVIEW 2 | CSE | SECTION 04 | TEAM 10</a:t>
            </a:r>
            <a:endParaRPr lang="en-US" sz="780" dirty="0"/>
          </a:p>
        </p:txBody>
      </p:sp>
      <p:sp>
        <p:nvSpPr>
          <p:cNvPr id="7" name="Shape 4"/>
          <p:cNvSpPr/>
          <p:nvPr/>
        </p:nvSpPr>
        <p:spPr>
          <a:xfrm>
            <a:off x="384048" y="1069848"/>
            <a:ext cx="11430000" cy="0"/>
          </a:xfrm>
          <a:prstGeom prst="line">
            <a:avLst/>
          </a:prstGeom>
          <a:noFill/>
          <a:ln w="11430">
            <a:solidFill>
              <a:srgbClr val="173242"/>
            </a:solidFill>
            <a:prstDash val="solid"/>
          </a:ln>
        </p:spPr>
      </p:sp>
      <p:sp>
        <p:nvSpPr>
          <p:cNvPr id="8" name="Shape 5"/>
          <p:cNvSpPr/>
          <p:nvPr/>
        </p:nvSpPr>
        <p:spPr>
          <a:xfrm>
            <a:off x="384048" y="6053328"/>
            <a:ext cx="11430000" cy="0"/>
          </a:xfrm>
          <a:prstGeom prst="line">
            <a:avLst/>
          </a:prstGeom>
          <a:noFill/>
          <a:ln w="11430">
            <a:solidFill>
              <a:srgbClr val="173242"/>
            </a:solidFill>
            <a:prstDash val="solid"/>
          </a:ln>
        </p:spPr>
      </p:sp>
      <p:sp>
        <p:nvSpPr>
          <p:cNvPr id="9" name="Text 6"/>
          <p:cNvSpPr/>
          <p:nvPr/>
        </p:nvSpPr>
        <p:spPr>
          <a:xfrm>
            <a:off x="713232" y="6172200"/>
            <a:ext cx="8138160" cy="164592"/>
          </a:xfrm>
          <a:prstGeom prst="rect">
            <a:avLst/>
          </a:prstGeom>
          <a:noFill/>
          <a:ln/>
        </p:spPr>
        <p:txBody>
          <a:bodyPr wrap="square" lIns="762" tIns="762" rIns="762" bIns="762" rtlCol="0" anchor="ctr">
            <a:normAutofit/>
          </a:bodyPr>
          <a:lstStyle/>
          <a:p>
            <a:r>
              <a:rPr sz="800"/>
              <a:t>FITNESS CHALLENGE APP WITH STEP GAMIFICATION</a:t>
            </a:r>
          </a:p>
        </p:txBody>
      </p:sp>
      <p:sp>
        <p:nvSpPr>
          <p:cNvPr id="10" name="Text 7"/>
          <p:cNvSpPr/>
          <p:nvPr/>
        </p:nvSpPr>
        <p:spPr>
          <a:xfrm>
            <a:off x="10241280" y="6172200"/>
            <a:ext cx="1143000" cy="164592"/>
          </a:xfrm>
          <a:prstGeom prst="rect">
            <a:avLst/>
          </a:prstGeom>
          <a:noFill/>
          <a:ln/>
        </p:spPr>
        <p:txBody>
          <a:bodyPr wrap="square" lIns="762" tIns="762" rIns="762" bIns="762" rtlCol="0" anchor="ctr">
            <a:normAutofit/>
          </a:bodyPr>
          <a:lstStyle/>
          <a:p>
            <a:pPr algn="r" indent="0" marL="0">
              <a:buNone/>
            </a:pPr>
            <a:r>
              <a:rPr lang="en-US" sz="690" dirty="0">
                <a:solidFill>
                  <a:srgbClr val="173242"/>
                </a:solidFill>
                <a:latin typeface="Lato" pitchFamily="34" charset="0"/>
                <a:ea typeface="Lato" pitchFamily="34" charset="-122"/>
                <a:cs typeface="Lato" pitchFamily="34" charset="-120"/>
              </a:rPr>
              <a:t>A.Y. 2025–26</a:t>
            </a:r>
            <a:endParaRPr lang="en-US" sz="690" dirty="0"/>
          </a:p>
        </p:txBody>
      </p:sp>
      <p:sp>
        <p:nvSpPr>
          <p:cNvPr id="11" name="Shape 8"/>
          <p:cNvSpPr/>
          <p:nvPr/>
        </p:nvSpPr>
        <p:spPr>
          <a:xfrm>
            <a:off x="384048" y="6364224"/>
            <a:ext cx="11430000" cy="0"/>
          </a:xfrm>
          <a:prstGeom prst="line">
            <a:avLst/>
          </a:prstGeom>
          <a:noFill/>
          <a:ln w="11430">
            <a:solidFill>
              <a:srgbClr val="173242"/>
            </a:solidFill>
            <a:prstDash val="solid"/>
          </a:ln>
        </p:spPr>
      </p:sp>
      <p:sp>
        <p:nvSpPr>
          <p:cNvPr id="12" name="Text 9"/>
          <p:cNvSpPr/>
          <p:nvPr/>
        </p:nvSpPr>
        <p:spPr>
          <a:xfrm>
            <a:off x="868680" y="1335024"/>
            <a:ext cx="4389120" cy="914400"/>
          </a:xfrm>
          <a:prstGeom prst="rect">
            <a:avLst/>
          </a:prstGeom>
          <a:noFill/>
          <a:ln/>
        </p:spPr>
        <p:txBody>
          <a:bodyPr wrap="square" lIns="762" tIns="762" rIns="762" bIns="762" rtlCol="0" anchor="ctr">
            <a:normAutofit/>
          </a:bodyPr>
          <a:lstStyle/>
          <a:p>
            <a:r>
              <a:rPr sz="2700" b="1"/>
              <a:t>BACKEND</a:t>
            </a:r>
          </a:p>
          <a:p>
            <a:r>
              <a:rPr sz="2700" b="1"/>
              <a:t>ARCHITECTURE</a:t>
            </a:r>
          </a:p>
        </p:txBody>
      </p:sp>
      <p:sp>
        <p:nvSpPr>
          <p:cNvPr id="13" name="Text 10"/>
          <p:cNvSpPr/>
          <p:nvPr/>
        </p:nvSpPr>
        <p:spPr>
          <a:xfrm>
            <a:off x="758952" y="2423160"/>
            <a:ext cx="5349240" cy="2468880"/>
          </a:xfrm>
          <a:prstGeom prst="rect">
            <a:avLst/>
          </a:prstGeom>
          <a:solidFill>
            <a:srgbClr val="FAFCF0"/>
          </a:solidFill>
          <a:ln w="12700">
            <a:solidFill>
              <a:srgbClr val="176563"/>
            </a:solidFill>
          </a:ln>
        </p:spPr>
        <p:txBody>
          <a:bodyPr wrap="square" lIns="762" tIns="762" rIns="762" bIns="762" rtlCol="0" anchor="ctr">
            <a:normAutofit/>
          </a:bodyPr>
          <a:lstStyle/>
          <a:p>
            <a:r>
              <a:rPr sz="1800"/>
              <a:t>Android requests pass through REST/JSON to Spring Boot controllers. Services validate input, JWT identity and ownership; repository logic persists the resulting records in MySQL.</a:t>
            </a:r>
          </a:p>
        </p:txBody>
      </p:sp>
      <p:sp>
        <p:nvSpPr>
          <p:cNvPr id="14" name="Text 11"/>
          <p:cNvSpPr/>
          <p:nvPr/>
        </p:nvSpPr>
        <p:spPr>
          <a:xfrm>
            <a:off x="6492240" y="1335024"/>
            <a:ext cx="4480560" cy="914400"/>
          </a:xfrm>
          <a:prstGeom prst="rect">
            <a:avLst/>
          </a:prstGeom>
          <a:noFill/>
          <a:ln/>
        </p:spPr>
        <p:txBody>
          <a:bodyPr wrap="square" lIns="762" tIns="762" rIns="762" bIns="762" rtlCol="0" anchor="ctr">
            <a:normAutofit/>
          </a:bodyPr>
          <a:lstStyle/>
          <a:p>
            <a:r>
              <a:rPr sz="3100" b="1"/>
              <a:t>TEAM</a:t>
            </a:r>
          </a:p>
          <a:p>
            <a:r>
              <a:rPr sz="3100" b="1"/>
              <a:t>MODULES</a:t>
            </a:r>
          </a:p>
        </p:txBody>
      </p:sp>
      <p:sp>
        <p:nvSpPr>
          <p:cNvPr id="15" name="Text 12"/>
          <p:cNvSpPr/>
          <p:nvPr/>
        </p:nvSpPr>
        <p:spPr>
          <a:xfrm>
            <a:off x="6291072" y="2423160"/>
            <a:ext cx="5138928" cy="2468880"/>
          </a:xfrm>
          <a:prstGeom prst="rect">
            <a:avLst/>
          </a:prstGeom>
          <a:solidFill>
            <a:srgbClr val="EEF4DD"/>
          </a:solidFill>
          <a:ln w="12700">
            <a:solidFill>
              <a:srgbClr val="9F303A"/>
            </a:solidFill>
          </a:ln>
        </p:spPr>
        <p:txBody>
          <a:bodyPr wrap="square" lIns="762" tIns="762" rIns="762" bIns="762" rtlCol="0" anchor="ctr">
            <a:normAutofit/>
          </a:bodyPr>
          <a:lstStyle/>
          <a:p>
            <a:r>
              <a:rPr sz="1600"/>
              <a:t>Section: 04  |  Team: 10</a:t>
            </a:r>
          </a:p>
          <a:p>
            <a:r>
              <a:rPr lang="en-US"/>
              <a:t>PAPISETTY SHASHE PREETHAM — 2520030534</a:t>
            </a:r>
          </a:p>
          <a:p>
            <a:r>
              <a:rPr sz="1600"/>
              <a:t>Authentication &amp; profile management</a:t>
            </a:r>
          </a:p>
          <a:p>
            <a:r>
              <a:rPr sz="1600"/>
              <a:t>BURRAMUKKU ARYAN — 2520030343</a:t>
            </a:r>
          </a:p>
          <a:p>
            <a:r>
              <a:rPr sz="1600"/>
              <a:t>Steps, progress, challenges &amp; leaderboard</a:t>
            </a:r>
          </a:p>
          <a:p>
            <a:r>
              <a:rPr sz="1600"/>
              <a:t>UPPALAPATI VENKATA NAGA VARSHITHA — 2520030206</a:t>
            </a:r>
          </a:p>
          <a:p>
            <a:r>
              <a:rPr lang="en-US"/>
              <a:t>Friends, gamification, rewards &amp; analytics</a:t>
            </a:r>
          </a:p>
          <a:p>
            <a:r>
              <a:rPr sz="1600"/>
              <a:t/>
            </a:r>
          </a:p>
        </p:txBody>
      </p:sp>
      <p:sp>
        <p:nvSpPr>
          <p:cNvPr id="16" name="Text 13"/>
          <p:cNvSpPr/>
          <p:nvPr/>
        </p:nvSpPr>
        <p:spPr>
          <a:xfrm>
            <a:off x="804672" y="5084064"/>
            <a:ext cx="1207008" cy="457200"/>
          </a:xfrm>
          <a:prstGeom prst="rect">
            <a:avLst/>
          </a:prstGeom>
          <a:solidFill>
            <a:srgbClr val="176563"/>
          </a:solidFill>
          <a:ln w="12700">
            <a:solidFill>
              <a:srgbClr val="176563"/>
            </a:solidFill>
          </a:ln>
        </p:spPr>
        <p:txBody>
          <a:bodyPr wrap="square" lIns="762" tIns="762" rIns="762" bIns="762" rtlCol="0" anchor="ctr">
            <a:normAutofit/>
          </a:bodyPr>
          <a:lstStyle/>
          <a:p>
            <a:r>
              <a:rPr sz="1100" b="1"/>
              <a:t>ANDROID</a:t>
            </a:r>
          </a:p>
        </p:txBody>
      </p:sp>
      <p:sp>
        <p:nvSpPr>
          <p:cNvPr id="17" name="Text 14"/>
          <p:cNvSpPr/>
          <p:nvPr/>
        </p:nvSpPr>
        <p:spPr>
          <a:xfrm>
            <a:off x="2112264" y="5157216"/>
            <a:ext cx="228600" cy="228600"/>
          </a:xfrm>
          <a:prstGeom prst="rect">
            <a:avLst/>
          </a:prstGeom>
          <a:noFill/>
          <a:ln/>
        </p:spPr>
        <p:txBody>
          <a:bodyPr wrap="square" lIns="762" tIns="762" rIns="762" bIns="762" rtlCol="0" anchor="ctr">
            <a:normAutofit/>
          </a:bodyPr>
          <a:lstStyle/>
          <a:p>
            <a:pPr algn="ctr" indent="0" marL="0">
              <a:buNone/>
            </a:pPr>
            <a:r>
              <a:rPr lang="en-US" sz="1800" b="1" dirty="0">
                <a:solidFill>
                  <a:srgbClr val="173242"/>
                </a:solidFill>
                <a:latin typeface="Lato" pitchFamily="34" charset="0"/>
                <a:ea typeface="Lato" pitchFamily="34" charset="-122"/>
                <a:cs typeface="Lato" pitchFamily="34" charset="-120"/>
              </a:rPr>
              <a:t>→</a:t>
            </a:r>
            <a:endParaRPr lang="en-US" sz="1800" dirty="0"/>
          </a:p>
        </p:txBody>
      </p:sp>
      <p:sp>
        <p:nvSpPr>
          <p:cNvPr id="18" name="Text 15"/>
          <p:cNvSpPr/>
          <p:nvPr/>
        </p:nvSpPr>
        <p:spPr>
          <a:xfrm>
            <a:off x="2560320" y="5084064"/>
            <a:ext cx="1207008" cy="457200"/>
          </a:xfrm>
          <a:prstGeom prst="rect">
            <a:avLst/>
          </a:prstGeom>
          <a:solidFill>
            <a:srgbClr val="9F303A"/>
          </a:solidFill>
          <a:ln w="12700">
            <a:solidFill>
              <a:srgbClr val="9F303A"/>
            </a:solidFill>
          </a:ln>
        </p:spPr>
        <p:txBody>
          <a:bodyPr wrap="square" lIns="762" tIns="762" rIns="762" bIns="762" rtlCol="0" anchor="ctr">
            <a:normAutofit/>
          </a:bodyPr>
          <a:lstStyle/>
          <a:p>
            <a:r>
              <a:rPr sz="1100" b="1"/>
              <a:t>REST API</a:t>
            </a:r>
          </a:p>
        </p:txBody>
      </p:sp>
      <p:sp>
        <p:nvSpPr>
          <p:cNvPr id="19" name="Text 16"/>
          <p:cNvSpPr/>
          <p:nvPr/>
        </p:nvSpPr>
        <p:spPr>
          <a:xfrm>
            <a:off x="3867912" y="5157216"/>
            <a:ext cx="228600" cy="228600"/>
          </a:xfrm>
          <a:prstGeom prst="rect">
            <a:avLst/>
          </a:prstGeom>
          <a:noFill/>
          <a:ln/>
        </p:spPr>
        <p:txBody>
          <a:bodyPr wrap="square" lIns="762" tIns="762" rIns="762" bIns="762" rtlCol="0" anchor="ctr">
            <a:normAutofit/>
          </a:bodyPr>
          <a:lstStyle/>
          <a:p>
            <a:pPr algn="ctr" indent="0" marL="0">
              <a:buNone/>
            </a:pPr>
            <a:r>
              <a:rPr lang="en-US" sz="1800" b="1" dirty="0">
                <a:solidFill>
                  <a:srgbClr val="173242"/>
                </a:solidFill>
                <a:latin typeface="Lato" pitchFamily="34" charset="0"/>
                <a:ea typeface="Lato" pitchFamily="34" charset="-122"/>
                <a:cs typeface="Lato" pitchFamily="34" charset="-120"/>
              </a:rPr>
              <a:t>→</a:t>
            </a:r>
            <a:endParaRPr lang="en-US" sz="1800" dirty="0"/>
          </a:p>
        </p:txBody>
      </p:sp>
      <p:sp>
        <p:nvSpPr>
          <p:cNvPr id="20" name="Text 17"/>
          <p:cNvSpPr/>
          <p:nvPr/>
        </p:nvSpPr>
        <p:spPr>
          <a:xfrm>
            <a:off x="4315968" y="5084064"/>
            <a:ext cx="1207008" cy="457200"/>
          </a:xfrm>
          <a:prstGeom prst="rect">
            <a:avLst/>
          </a:prstGeom>
          <a:solidFill>
            <a:srgbClr val="176563"/>
          </a:solidFill>
          <a:ln w="12700">
            <a:solidFill>
              <a:srgbClr val="176563"/>
            </a:solidFill>
          </a:ln>
        </p:spPr>
        <p:txBody>
          <a:bodyPr wrap="square" lIns="762" tIns="762" rIns="762" bIns="762" rtlCol="0" anchor="ctr">
            <a:normAutofit/>
          </a:bodyPr>
          <a:lstStyle/>
          <a:p>
            <a:r>
              <a:rPr sz="1100" b="1"/>
              <a:t>SPRING BOOT</a:t>
            </a:r>
          </a:p>
        </p:txBody>
      </p:sp>
      <p:sp>
        <p:nvSpPr>
          <p:cNvPr id="21" name="Text 18"/>
          <p:cNvSpPr/>
          <p:nvPr/>
        </p:nvSpPr>
        <p:spPr>
          <a:xfrm>
            <a:off x="5623560" y="5157216"/>
            <a:ext cx="228600" cy="228600"/>
          </a:xfrm>
          <a:prstGeom prst="rect">
            <a:avLst/>
          </a:prstGeom>
          <a:noFill/>
          <a:ln/>
        </p:spPr>
        <p:txBody>
          <a:bodyPr wrap="square" lIns="762" tIns="762" rIns="762" bIns="762" rtlCol="0" anchor="ctr">
            <a:normAutofit/>
          </a:bodyPr>
          <a:lstStyle/>
          <a:p>
            <a:pPr algn="ctr" indent="0" marL="0">
              <a:buNone/>
            </a:pPr>
            <a:r>
              <a:rPr lang="en-US" sz="1800" b="1" dirty="0">
                <a:solidFill>
                  <a:srgbClr val="173242"/>
                </a:solidFill>
                <a:latin typeface="Lato" pitchFamily="34" charset="0"/>
                <a:ea typeface="Lato" pitchFamily="34" charset="-122"/>
                <a:cs typeface="Lato" pitchFamily="34" charset="-120"/>
              </a:rPr>
              <a:t>→</a:t>
            </a:r>
            <a:endParaRPr lang="en-US" sz="1800" dirty="0"/>
          </a:p>
        </p:txBody>
      </p:sp>
      <p:sp>
        <p:nvSpPr>
          <p:cNvPr id="22" name="Text 19"/>
          <p:cNvSpPr/>
          <p:nvPr/>
        </p:nvSpPr>
        <p:spPr>
          <a:xfrm>
            <a:off x="6071616" y="5084064"/>
            <a:ext cx="1207008" cy="457200"/>
          </a:xfrm>
          <a:prstGeom prst="rect">
            <a:avLst/>
          </a:prstGeom>
          <a:solidFill>
            <a:srgbClr val="9F303A"/>
          </a:solidFill>
          <a:ln w="12700">
            <a:solidFill>
              <a:srgbClr val="9F303A"/>
            </a:solidFill>
          </a:ln>
        </p:spPr>
        <p:txBody>
          <a:bodyPr wrap="square" lIns="762" tIns="762" rIns="762" bIns="762" rtlCol="0" anchor="ctr">
            <a:normAutofit/>
          </a:bodyPr>
          <a:lstStyle/>
          <a:p>
            <a:r>
              <a:rPr sz="1100" b="1"/>
              <a:t>SERVICE LAYER</a:t>
            </a:r>
          </a:p>
        </p:txBody>
      </p:sp>
      <p:sp>
        <p:nvSpPr>
          <p:cNvPr id="23" name="Text 20"/>
          <p:cNvSpPr/>
          <p:nvPr/>
        </p:nvSpPr>
        <p:spPr>
          <a:xfrm>
            <a:off x="7379208" y="5157216"/>
            <a:ext cx="228600" cy="228600"/>
          </a:xfrm>
          <a:prstGeom prst="rect">
            <a:avLst/>
          </a:prstGeom>
          <a:noFill/>
          <a:ln/>
        </p:spPr>
        <p:txBody>
          <a:bodyPr wrap="square" lIns="762" tIns="762" rIns="762" bIns="762" rtlCol="0" anchor="ctr">
            <a:normAutofit/>
          </a:bodyPr>
          <a:lstStyle/>
          <a:p>
            <a:pPr algn="ctr" indent="0" marL="0">
              <a:buNone/>
            </a:pPr>
            <a:r>
              <a:rPr lang="en-US" sz="1800" b="1" dirty="0">
                <a:solidFill>
                  <a:srgbClr val="173242"/>
                </a:solidFill>
                <a:latin typeface="Lato" pitchFamily="34" charset="0"/>
                <a:ea typeface="Lato" pitchFamily="34" charset="-122"/>
                <a:cs typeface="Lato" pitchFamily="34" charset="-120"/>
              </a:rPr>
              <a:t>→</a:t>
            </a:r>
            <a:endParaRPr lang="en-US" sz="1800" dirty="0"/>
          </a:p>
        </p:txBody>
      </p:sp>
      <p:sp>
        <p:nvSpPr>
          <p:cNvPr id="24" name="Text 21"/>
          <p:cNvSpPr/>
          <p:nvPr/>
        </p:nvSpPr>
        <p:spPr>
          <a:xfrm>
            <a:off x="7827264" y="5084064"/>
            <a:ext cx="1207008" cy="457200"/>
          </a:xfrm>
          <a:prstGeom prst="rect">
            <a:avLst/>
          </a:prstGeom>
          <a:solidFill>
            <a:srgbClr val="176563"/>
          </a:solidFill>
          <a:ln w="12700">
            <a:solidFill>
              <a:srgbClr val="176563"/>
            </a:solidFill>
          </a:ln>
        </p:spPr>
        <p:txBody>
          <a:bodyPr wrap="square" lIns="762" tIns="762" rIns="762" bIns="762" rtlCol="0" anchor="ctr">
            <a:normAutofit/>
          </a:bodyPr>
          <a:lstStyle/>
          <a:p>
            <a:r>
              <a:rPr sz="1100" b="1"/>
              <a:t>REPOSITORY</a:t>
            </a:r>
          </a:p>
        </p:txBody>
      </p:sp>
      <p:sp>
        <p:nvSpPr>
          <p:cNvPr id="25" name="Text 22"/>
          <p:cNvSpPr/>
          <p:nvPr/>
        </p:nvSpPr>
        <p:spPr>
          <a:xfrm>
            <a:off x="9134856" y="5157216"/>
            <a:ext cx="228600" cy="228600"/>
          </a:xfrm>
          <a:prstGeom prst="rect">
            <a:avLst/>
          </a:prstGeom>
          <a:noFill/>
          <a:ln/>
        </p:spPr>
        <p:txBody>
          <a:bodyPr wrap="square" lIns="762" tIns="762" rIns="762" bIns="762" rtlCol="0" anchor="ctr">
            <a:normAutofit/>
          </a:bodyPr>
          <a:lstStyle/>
          <a:p>
            <a:pPr algn="ctr" indent="0" marL="0">
              <a:buNone/>
            </a:pPr>
            <a:r>
              <a:rPr lang="en-US" sz="1800" b="1" dirty="0">
                <a:solidFill>
                  <a:srgbClr val="173242"/>
                </a:solidFill>
                <a:latin typeface="Lato" pitchFamily="34" charset="0"/>
                <a:ea typeface="Lato" pitchFamily="34" charset="-122"/>
                <a:cs typeface="Lato" pitchFamily="34" charset="-120"/>
              </a:rPr>
              <a:t>→</a:t>
            </a:r>
            <a:endParaRPr lang="en-US" sz="1800" dirty="0"/>
          </a:p>
        </p:txBody>
      </p:sp>
      <p:sp>
        <p:nvSpPr>
          <p:cNvPr id="26" name="Text 23"/>
          <p:cNvSpPr/>
          <p:nvPr/>
        </p:nvSpPr>
        <p:spPr>
          <a:xfrm>
            <a:off x="9582912" y="5084064"/>
            <a:ext cx="1207008" cy="457200"/>
          </a:xfrm>
          <a:prstGeom prst="rect">
            <a:avLst/>
          </a:prstGeom>
          <a:solidFill>
            <a:srgbClr val="9F303A"/>
          </a:solidFill>
          <a:ln w="12700">
            <a:solidFill>
              <a:srgbClr val="9F303A"/>
            </a:solidFill>
          </a:ln>
        </p:spPr>
        <p:txBody>
          <a:bodyPr wrap="square" lIns="762" tIns="762" rIns="762" bIns="762" rtlCol="0" anchor="ctr">
            <a:normAutofit/>
          </a:bodyPr>
          <a:lstStyle/>
          <a:p>
            <a:r>
              <a:rPr sz="1100" b="1"/>
              <a:t>MYSQL</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AED"/>
        </a:solidFill>
      </p:bgPr>
    </p:bg>
    <p:spTree>
      <p:nvGrpSpPr>
        <p:cNvPr id="1" name=""/>
        <p:cNvGrpSpPr/>
        <p:nvPr/>
      </p:nvGrpSpPr>
      <p:grpSpPr>
        <a:xfrm>
          <a:off x="0" y="0"/>
          <a:ext cx="0" cy="0"/>
          <a:chOff x="0" y="0"/>
          <a:chExt cx="0" cy="0"/>
        </a:xfrm>
      </p:grpSpPr>
      <p:sp>
        <p:nvSpPr>
          <p:cNvPr id="2" name="Shape 0"/>
          <p:cNvSpPr/>
          <p:nvPr/>
        </p:nvSpPr>
        <p:spPr>
          <a:xfrm>
            <a:off x="384048" y="91440"/>
            <a:ext cx="11430000" cy="6583680"/>
          </a:xfrm>
          <a:prstGeom prst="rect">
            <a:avLst/>
          </a:prstGeom>
          <a:solidFill>
            <a:srgbClr val="F7FAED">
              <a:alpha val="0"/>
            </a:srgbClr>
          </a:solidFill>
          <a:ln w="12700">
            <a:solidFill>
              <a:srgbClr val="CBD6BB"/>
            </a:solidFill>
            <a:prstDash val="solid"/>
          </a:ln>
        </p:spPr>
      </p:sp>
      <p:pic>
        <p:nvPicPr>
          <p:cNvPr id="3" name="Image 0" descr="/mnt/data/mlppt_unzip/ppt/media/image1.png">    </p:cNvPr>
          <p:cNvPicPr>
            <a:picLocks noChangeAspect="1"/>
          </p:cNvPicPr>
          <p:nvPr/>
        </p:nvPicPr>
        <p:blipFill>
          <a:blip r:embed="rId1"/>
          <a:stretch>
            <a:fillRect/>
          </a:stretch>
        </p:blipFill>
        <p:spPr>
          <a:xfrm>
            <a:off x="658368" y="173736"/>
            <a:ext cx="1243584" cy="457200"/>
          </a:xfrm>
          <a:prstGeom prst="rect">
            <a:avLst/>
          </a:prstGeom>
        </p:spPr>
      </p:pic>
      <p:sp>
        <p:nvSpPr>
          <p:cNvPr id="4" name="Text 1"/>
          <p:cNvSpPr/>
          <p:nvPr/>
        </p:nvSpPr>
        <p:spPr>
          <a:xfrm>
            <a:off x="2039112" y="164592"/>
            <a:ext cx="6858000" cy="438912"/>
          </a:xfrm>
          <a:prstGeom prst="rect">
            <a:avLst/>
          </a:prstGeom>
          <a:noFill/>
          <a:ln/>
        </p:spPr>
        <p:txBody>
          <a:bodyPr wrap="square" lIns="762" tIns="762" rIns="762" bIns="762" rtlCol="0" anchor="ctr">
            <a:normAutofit/>
          </a:bodyPr>
          <a:lstStyle/>
          <a:p>
            <a:pPr algn="l" indent="0" marL="0">
              <a:buNone/>
            </a:pPr>
            <a:r>
              <a:rPr lang="en-US" sz="2300" b="1" dirty="0">
                <a:solidFill>
                  <a:srgbClr val="173242"/>
                </a:solidFill>
                <a:latin typeface="Lato" pitchFamily="34" charset="0"/>
                <a:ea typeface="Lato" pitchFamily="34" charset="-122"/>
                <a:cs typeface="Lato" pitchFamily="34" charset="-120"/>
              </a:rPr>
              <a:t>FITNESS CHALLENGE APP</a:t>
            </a:r>
            <a:endParaRPr lang="en-US" sz="2300" dirty="0"/>
          </a:p>
        </p:txBody>
      </p:sp>
      <p:sp>
        <p:nvSpPr>
          <p:cNvPr id="5" name="Shape 2"/>
          <p:cNvSpPr/>
          <p:nvPr/>
        </p:nvSpPr>
        <p:spPr>
          <a:xfrm>
            <a:off x="384048" y="758952"/>
            <a:ext cx="11430000" cy="0"/>
          </a:xfrm>
          <a:prstGeom prst="line">
            <a:avLst/>
          </a:prstGeom>
          <a:noFill/>
          <a:ln w="11430">
            <a:solidFill>
              <a:srgbClr val="173242"/>
            </a:solidFill>
            <a:prstDash val="solid"/>
          </a:ln>
        </p:spPr>
      </p:sp>
      <p:sp>
        <p:nvSpPr>
          <p:cNvPr id="6" name="Text 3"/>
          <p:cNvSpPr/>
          <p:nvPr/>
        </p:nvSpPr>
        <p:spPr>
          <a:xfrm>
            <a:off x="9189720" y="859536"/>
            <a:ext cx="2176272" cy="164592"/>
          </a:xfrm>
          <a:prstGeom prst="rect">
            <a:avLst/>
          </a:prstGeom>
          <a:noFill/>
          <a:ln/>
        </p:spPr>
        <p:txBody>
          <a:bodyPr wrap="square" lIns="762" tIns="762" rIns="762" bIns="762" rtlCol="0" anchor="ctr">
            <a:normAutofit/>
          </a:bodyPr>
          <a:lstStyle/>
          <a:p>
            <a:pPr algn="r" indent="0" marL="0">
              <a:buNone/>
            </a:pPr>
            <a:r>
              <a:rPr lang="en-US" sz="780" dirty="0">
                <a:solidFill>
                  <a:srgbClr val="173242"/>
                </a:solidFill>
                <a:latin typeface="Lato" pitchFamily="34" charset="0"/>
                <a:ea typeface="Lato" pitchFamily="34" charset="-122"/>
                <a:cs typeface="Lato" pitchFamily="34" charset="-120"/>
              </a:rPr>
              <a:t>REVIEW 2 | CSE | SECTION 04 | TEAM 10</a:t>
            </a:r>
            <a:endParaRPr lang="en-US" sz="780" dirty="0"/>
          </a:p>
        </p:txBody>
      </p:sp>
      <p:sp>
        <p:nvSpPr>
          <p:cNvPr id="7" name="Shape 4"/>
          <p:cNvSpPr/>
          <p:nvPr/>
        </p:nvSpPr>
        <p:spPr>
          <a:xfrm>
            <a:off x="384048" y="1069848"/>
            <a:ext cx="11430000" cy="0"/>
          </a:xfrm>
          <a:prstGeom prst="line">
            <a:avLst/>
          </a:prstGeom>
          <a:noFill/>
          <a:ln w="11430">
            <a:solidFill>
              <a:srgbClr val="173242"/>
            </a:solidFill>
            <a:prstDash val="solid"/>
          </a:ln>
        </p:spPr>
      </p:sp>
      <p:sp>
        <p:nvSpPr>
          <p:cNvPr id="8" name="Shape 5"/>
          <p:cNvSpPr/>
          <p:nvPr/>
        </p:nvSpPr>
        <p:spPr>
          <a:xfrm>
            <a:off x="384048" y="6053328"/>
            <a:ext cx="11430000" cy="0"/>
          </a:xfrm>
          <a:prstGeom prst="line">
            <a:avLst/>
          </a:prstGeom>
          <a:noFill/>
          <a:ln w="11430">
            <a:solidFill>
              <a:srgbClr val="173242"/>
            </a:solidFill>
            <a:prstDash val="solid"/>
          </a:ln>
        </p:spPr>
      </p:sp>
      <p:sp>
        <p:nvSpPr>
          <p:cNvPr id="9" name="Text 6"/>
          <p:cNvSpPr/>
          <p:nvPr/>
        </p:nvSpPr>
        <p:spPr>
          <a:xfrm>
            <a:off x="713232" y="6172200"/>
            <a:ext cx="8138160" cy="164592"/>
          </a:xfrm>
          <a:prstGeom prst="rect">
            <a:avLst/>
          </a:prstGeom>
          <a:noFill/>
          <a:ln/>
        </p:spPr>
        <p:txBody>
          <a:bodyPr wrap="square" lIns="762" tIns="762" rIns="762" bIns="762" rtlCol="0" anchor="ctr">
            <a:normAutofit/>
          </a:bodyPr>
          <a:lstStyle/>
          <a:p>
            <a:r>
              <a:rPr sz="800"/>
              <a:t>FITNESS CHALLENGE APP WITH STEP GAMIFICATION</a:t>
            </a:r>
          </a:p>
        </p:txBody>
      </p:sp>
      <p:sp>
        <p:nvSpPr>
          <p:cNvPr id="10" name="Text 7"/>
          <p:cNvSpPr/>
          <p:nvPr/>
        </p:nvSpPr>
        <p:spPr>
          <a:xfrm>
            <a:off x="10241280" y="6172200"/>
            <a:ext cx="1143000" cy="164592"/>
          </a:xfrm>
          <a:prstGeom prst="rect">
            <a:avLst/>
          </a:prstGeom>
          <a:noFill/>
          <a:ln/>
        </p:spPr>
        <p:txBody>
          <a:bodyPr wrap="square" lIns="762" tIns="762" rIns="762" bIns="762" rtlCol="0" anchor="ctr">
            <a:normAutofit/>
          </a:bodyPr>
          <a:lstStyle/>
          <a:p>
            <a:pPr algn="r" indent="0" marL="0">
              <a:buNone/>
            </a:pPr>
            <a:r>
              <a:rPr lang="en-US" sz="690" dirty="0">
                <a:solidFill>
                  <a:srgbClr val="173242"/>
                </a:solidFill>
                <a:latin typeface="Lato" pitchFamily="34" charset="0"/>
                <a:ea typeface="Lato" pitchFamily="34" charset="-122"/>
                <a:cs typeface="Lato" pitchFamily="34" charset="-120"/>
              </a:rPr>
              <a:t>A.Y. 2025–26</a:t>
            </a:r>
            <a:endParaRPr lang="en-US" sz="690" dirty="0"/>
          </a:p>
        </p:txBody>
      </p:sp>
      <p:sp>
        <p:nvSpPr>
          <p:cNvPr id="11" name="Shape 8"/>
          <p:cNvSpPr/>
          <p:nvPr/>
        </p:nvSpPr>
        <p:spPr>
          <a:xfrm>
            <a:off x="384048" y="6364224"/>
            <a:ext cx="11430000" cy="0"/>
          </a:xfrm>
          <a:prstGeom prst="line">
            <a:avLst/>
          </a:prstGeom>
          <a:noFill/>
          <a:ln w="11430">
            <a:solidFill>
              <a:srgbClr val="173242"/>
            </a:solidFill>
            <a:prstDash val="solid"/>
          </a:ln>
        </p:spPr>
      </p:sp>
      <p:sp>
        <p:nvSpPr>
          <p:cNvPr id="12" name="Text 9"/>
          <p:cNvSpPr/>
          <p:nvPr/>
        </p:nvSpPr>
        <p:spPr>
          <a:xfrm>
            <a:off x="868680" y="1170432"/>
            <a:ext cx="2743200" cy="594360"/>
          </a:xfrm>
          <a:prstGeom prst="rect">
            <a:avLst/>
          </a:prstGeom>
          <a:noFill/>
          <a:ln/>
        </p:spPr>
        <p:txBody>
          <a:bodyPr wrap="square" lIns="762" tIns="762" rIns="762" bIns="762" rtlCol="0" anchor="ctr">
            <a:normAutofit/>
          </a:bodyPr>
          <a:lstStyle/>
          <a:p>
            <a:r>
              <a:rPr sz="2700" b="1"/>
              <a:t>RELATIONAL</a:t>
            </a:r>
          </a:p>
          <a:p>
            <a:r>
              <a:rPr sz="2700" b="1"/>
              <a:t>DATA MODEL</a:t>
            </a:r>
          </a:p>
        </p:txBody>
      </p:sp>
      <p:sp>
        <p:nvSpPr>
          <p:cNvPr id="13" name="Text 10"/>
          <p:cNvSpPr/>
          <p:nvPr/>
        </p:nvSpPr>
        <p:spPr>
          <a:xfrm>
            <a:off x="3977640" y="1234440"/>
            <a:ext cx="7132320" cy="457200"/>
          </a:xfrm>
          <a:prstGeom prst="rect">
            <a:avLst/>
          </a:prstGeom>
          <a:solidFill>
            <a:srgbClr val="173242"/>
          </a:solidFill>
          <a:ln w="12700">
            <a:solidFill>
              <a:srgbClr val="879587"/>
            </a:solidFill>
          </a:ln>
        </p:spPr>
        <p:txBody>
          <a:bodyPr wrap="square" lIns="762" tIns="762" rIns="762" bIns="762" rtlCol="0" anchor="ctr">
            <a:normAutofit/>
          </a:bodyPr>
          <a:lstStyle/>
          <a:p>
            <a:r>
              <a:rPr sz="2200" b="1"/>
              <a:t>PROPOSED MYSQL SCHEMA</a:t>
            </a:r>
          </a:p>
        </p:txBody>
      </p:sp>
      <p:sp>
        <p:nvSpPr>
          <p:cNvPr id="14" name="Text 11"/>
          <p:cNvSpPr/>
          <p:nvPr/>
        </p:nvSpPr>
        <p:spPr>
          <a:xfrm>
            <a:off x="749808" y="1993392"/>
            <a:ext cx="2944368" cy="658368"/>
          </a:xfrm>
          <a:prstGeom prst="rect">
            <a:avLst/>
          </a:prstGeom>
          <a:solidFill>
            <a:srgbClr val="FAFCF0"/>
          </a:solidFill>
          <a:ln w="12700">
            <a:solidFill>
              <a:srgbClr val="879587"/>
            </a:solidFill>
          </a:ln>
        </p:spPr>
        <p:txBody>
          <a:bodyPr wrap="square" lIns="762" tIns="762" rIns="762" bIns="762" rtlCol="0" anchor="ctr">
            <a:normAutofit/>
          </a:bodyPr>
          <a:lstStyle/>
          <a:p>
            <a:r>
              <a:rPr sz="1500" b="1"/>
              <a:t>Users &amp; Steps</a:t>
            </a:r>
          </a:p>
        </p:txBody>
      </p:sp>
      <p:sp>
        <p:nvSpPr>
          <p:cNvPr id="15" name="Text 12"/>
          <p:cNvSpPr/>
          <p:nvPr/>
        </p:nvSpPr>
        <p:spPr>
          <a:xfrm>
            <a:off x="3694176" y="1993392"/>
            <a:ext cx="7607808" cy="658368"/>
          </a:xfrm>
          <a:prstGeom prst="rect">
            <a:avLst/>
          </a:prstGeom>
          <a:solidFill>
            <a:srgbClr val="FAFCF0"/>
          </a:solidFill>
          <a:ln w="12700">
            <a:solidFill>
              <a:srgbClr val="879587"/>
            </a:solidFill>
          </a:ln>
        </p:spPr>
        <p:txBody>
          <a:bodyPr wrap="square" lIns="762" tIns="762" rIns="762" bIns="762" rtlCol="0" anchor="ctr">
            <a:normAutofit/>
          </a:bodyPr>
          <a:lstStyle/>
          <a:p>
            <a:r>
              <a:rPr sz="1300"/>
              <a:t>User stores identity/profile fields. StepRecord links user_id to activity date, step count and source.</a:t>
            </a:r>
          </a:p>
        </p:txBody>
      </p:sp>
      <p:sp>
        <p:nvSpPr>
          <p:cNvPr id="16" name="Text 13"/>
          <p:cNvSpPr/>
          <p:nvPr/>
        </p:nvSpPr>
        <p:spPr>
          <a:xfrm>
            <a:off x="749808" y="2779776"/>
            <a:ext cx="2944368" cy="658368"/>
          </a:xfrm>
          <a:prstGeom prst="rect">
            <a:avLst/>
          </a:prstGeom>
          <a:solidFill>
            <a:srgbClr val="E8F0D6"/>
          </a:solidFill>
          <a:ln w="12700">
            <a:solidFill>
              <a:srgbClr val="879587"/>
            </a:solidFill>
          </a:ln>
        </p:spPr>
        <p:txBody>
          <a:bodyPr wrap="square" lIns="762" tIns="762" rIns="762" bIns="762" rtlCol="0" anchor="ctr">
            <a:normAutofit/>
          </a:bodyPr>
          <a:lstStyle/>
          <a:p>
            <a:r>
              <a:rPr sz="1500" b="1"/>
              <a:t>Challenges</a:t>
            </a:r>
          </a:p>
        </p:txBody>
      </p:sp>
      <p:sp>
        <p:nvSpPr>
          <p:cNvPr id="17" name="Text 14"/>
          <p:cNvSpPr/>
          <p:nvPr/>
        </p:nvSpPr>
        <p:spPr>
          <a:xfrm>
            <a:off x="3694176" y="2779776"/>
            <a:ext cx="7607808" cy="658368"/>
          </a:xfrm>
          <a:prstGeom prst="rect">
            <a:avLst/>
          </a:prstGeom>
          <a:solidFill>
            <a:srgbClr val="E8F0D6"/>
          </a:solidFill>
          <a:ln w="12700">
            <a:solidFill>
              <a:srgbClr val="879587"/>
            </a:solidFill>
          </a:ln>
        </p:spPr>
        <p:txBody>
          <a:bodyPr wrap="square" lIns="762" tIns="762" rIns="762" bIns="762" rtlCol="0" anchor="ctr">
            <a:normAutofit/>
          </a:bodyPr>
          <a:lstStyle/>
          <a:p>
            <a:r>
              <a:rPr sz="1300"/>
              <a:t>Challenge stores owner, target and dates. ChallengeMember joins users and tracks participation/completion.</a:t>
            </a:r>
          </a:p>
        </p:txBody>
      </p:sp>
      <p:sp>
        <p:nvSpPr>
          <p:cNvPr id="18" name="Text 15"/>
          <p:cNvSpPr/>
          <p:nvPr/>
        </p:nvSpPr>
        <p:spPr>
          <a:xfrm>
            <a:off x="749808" y="3566160"/>
            <a:ext cx="2944368" cy="658368"/>
          </a:xfrm>
          <a:prstGeom prst="rect">
            <a:avLst/>
          </a:prstGeom>
          <a:solidFill>
            <a:srgbClr val="FAFCF0"/>
          </a:solidFill>
          <a:ln w="12700">
            <a:solidFill>
              <a:srgbClr val="879587"/>
            </a:solidFill>
          </a:ln>
        </p:spPr>
        <p:txBody>
          <a:bodyPr wrap="square" lIns="762" tIns="762" rIns="762" bIns="762" rtlCol="0" anchor="ctr">
            <a:normAutofit/>
          </a:bodyPr>
          <a:lstStyle/>
          <a:p>
            <a:r>
              <a:rPr sz="1500" b="1"/>
              <a:t>Social &amp; Badges</a:t>
            </a:r>
          </a:p>
        </p:txBody>
      </p:sp>
      <p:sp>
        <p:nvSpPr>
          <p:cNvPr id="19" name="Text 16"/>
          <p:cNvSpPr/>
          <p:nvPr/>
        </p:nvSpPr>
        <p:spPr>
          <a:xfrm>
            <a:off x="3694176" y="3566160"/>
            <a:ext cx="7607808" cy="658368"/>
          </a:xfrm>
          <a:prstGeom prst="rect">
            <a:avLst/>
          </a:prstGeom>
          <a:solidFill>
            <a:srgbClr val="FAFCF0"/>
          </a:solidFill>
          <a:ln w="12700">
            <a:solidFill>
              <a:srgbClr val="879587"/>
            </a:solidFill>
          </a:ln>
        </p:spPr>
        <p:txBody>
          <a:bodyPr wrap="square" lIns="762" tIns="762" rIns="762" bIns="762" rtlCol="0" anchor="ctr">
            <a:normAutofit/>
          </a:bodyPr>
          <a:lstStyle/>
          <a:p>
            <a:r>
              <a:rPr sz="1300"/>
              <a:t>Friendship stores requester, recipient and status. PointsLedger, Streak, Badge and UserBadge record achievements.</a:t>
            </a:r>
          </a:p>
        </p:txBody>
      </p:sp>
      <p:sp>
        <p:nvSpPr>
          <p:cNvPr id="20" name="Text 17"/>
          <p:cNvSpPr/>
          <p:nvPr/>
        </p:nvSpPr>
        <p:spPr>
          <a:xfrm>
            <a:off x="749808" y="4352544"/>
            <a:ext cx="2944368" cy="658368"/>
          </a:xfrm>
          <a:prstGeom prst="rect">
            <a:avLst/>
          </a:prstGeom>
          <a:solidFill>
            <a:srgbClr val="E8F0D6"/>
          </a:solidFill>
          <a:ln w="12700">
            <a:solidFill>
              <a:srgbClr val="879587"/>
            </a:solidFill>
          </a:ln>
        </p:spPr>
        <p:txBody>
          <a:bodyPr wrap="square" lIns="762" tIns="762" rIns="762" bIns="762" rtlCol="0" anchor="ctr">
            <a:normAutofit/>
          </a:bodyPr>
          <a:lstStyle/>
          <a:p>
            <a:r>
              <a:rPr sz="1500" b="1"/>
              <a:t>Rewards</a:t>
            </a:r>
          </a:p>
        </p:txBody>
      </p:sp>
      <p:sp>
        <p:nvSpPr>
          <p:cNvPr id="21" name="Text 18"/>
          <p:cNvSpPr/>
          <p:nvPr/>
        </p:nvSpPr>
        <p:spPr>
          <a:xfrm>
            <a:off x="3694176" y="4352544"/>
            <a:ext cx="7607808" cy="658368"/>
          </a:xfrm>
          <a:prstGeom prst="rect">
            <a:avLst/>
          </a:prstGeom>
          <a:solidFill>
            <a:srgbClr val="E8F0D6"/>
          </a:solidFill>
          <a:ln w="12700">
            <a:solidFill>
              <a:srgbClr val="879587"/>
            </a:solidFill>
          </a:ln>
        </p:spPr>
        <p:txBody>
          <a:bodyPr wrap="square" lIns="762" tIns="762" rIns="762" bIns="762" rtlCol="0" anchor="ctr">
            <a:normAutofit/>
          </a:bodyPr>
          <a:lstStyle/>
          <a:p>
            <a:r>
              <a:rPr sz="1300"/>
              <a:t>Reward stores catalog and coin cost. Redemption links user and reward with status/date; User 1:* Redemption.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AED"/>
        </a:solidFill>
      </p:bgPr>
    </p:bg>
    <p:spTree>
      <p:nvGrpSpPr>
        <p:cNvPr id="1" name=""/>
        <p:cNvGrpSpPr/>
        <p:nvPr/>
      </p:nvGrpSpPr>
      <p:grpSpPr>
        <a:xfrm>
          <a:off x="0" y="0"/>
          <a:ext cx="0" cy="0"/>
          <a:chOff x="0" y="0"/>
          <a:chExt cx="0" cy="0"/>
        </a:xfrm>
      </p:grpSpPr>
      <p:sp>
        <p:nvSpPr>
          <p:cNvPr id="2" name="Shape 0"/>
          <p:cNvSpPr/>
          <p:nvPr/>
        </p:nvSpPr>
        <p:spPr>
          <a:xfrm>
            <a:off x="384048" y="91440"/>
            <a:ext cx="11430000" cy="6583680"/>
          </a:xfrm>
          <a:prstGeom prst="rect">
            <a:avLst/>
          </a:prstGeom>
          <a:solidFill>
            <a:srgbClr val="F7FAED">
              <a:alpha val="0"/>
            </a:srgbClr>
          </a:solidFill>
          <a:ln w="12700">
            <a:solidFill>
              <a:srgbClr val="CBD6BB"/>
            </a:solidFill>
            <a:prstDash val="solid"/>
          </a:ln>
        </p:spPr>
      </p:sp>
      <p:pic>
        <p:nvPicPr>
          <p:cNvPr id="3" name="Image 0" descr="/mnt/data/mlppt_unzip/ppt/media/image1.png">    </p:cNvPr>
          <p:cNvPicPr>
            <a:picLocks noChangeAspect="1"/>
          </p:cNvPicPr>
          <p:nvPr/>
        </p:nvPicPr>
        <p:blipFill>
          <a:blip r:embed="rId1"/>
          <a:stretch>
            <a:fillRect/>
          </a:stretch>
        </p:blipFill>
        <p:spPr>
          <a:xfrm>
            <a:off x="658368" y="173736"/>
            <a:ext cx="1243584" cy="457200"/>
          </a:xfrm>
          <a:prstGeom prst="rect">
            <a:avLst/>
          </a:prstGeom>
        </p:spPr>
      </p:pic>
      <p:sp>
        <p:nvSpPr>
          <p:cNvPr id="4" name="Text 1"/>
          <p:cNvSpPr/>
          <p:nvPr/>
        </p:nvSpPr>
        <p:spPr>
          <a:xfrm>
            <a:off x="2039112" y="164592"/>
            <a:ext cx="6858000" cy="438912"/>
          </a:xfrm>
          <a:prstGeom prst="rect">
            <a:avLst/>
          </a:prstGeom>
          <a:noFill/>
          <a:ln/>
        </p:spPr>
        <p:txBody>
          <a:bodyPr wrap="square" lIns="762" tIns="762" rIns="762" bIns="762" rtlCol="0" anchor="ctr">
            <a:normAutofit/>
          </a:bodyPr>
          <a:lstStyle/>
          <a:p>
            <a:pPr algn="l" indent="0" marL="0">
              <a:buNone/>
            </a:pPr>
            <a:r>
              <a:rPr lang="en-US" sz="2300" b="1" dirty="0">
                <a:solidFill>
                  <a:srgbClr val="173242"/>
                </a:solidFill>
                <a:latin typeface="Lato" pitchFamily="34" charset="0"/>
                <a:ea typeface="Lato" pitchFamily="34" charset="-122"/>
                <a:cs typeface="Lato" pitchFamily="34" charset="-120"/>
              </a:rPr>
              <a:t>FITNESS CHALLENGE APP</a:t>
            </a:r>
            <a:endParaRPr lang="en-US" sz="2300" dirty="0"/>
          </a:p>
        </p:txBody>
      </p:sp>
      <p:sp>
        <p:nvSpPr>
          <p:cNvPr id="5" name="Shape 2"/>
          <p:cNvSpPr/>
          <p:nvPr/>
        </p:nvSpPr>
        <p:spPr>
          <a:xfrm>
            <a:off x="384048" y="758952"/>
            <a:ext cx="11430000" cy="0"/>
          </a:xfrm>
          <a:prstGeom prst="line">
            <a:avLst/>
          </a:prstGeom>
          <a:noFill/>
          <a:ln w="11430">
            <a:solidFill>
              <a:srgbClr val="173242"/>
            </a:solidFill>
            <a:prstDash val="solid"/>
          </a:ln>
        </p:spPr>
      </p:sp>
      <p:sp>
        <p:nvSpPr>
          <p:cNvPr id="6" name="Text 3"/>
          <p:cNvSpPr/>
          <p:nvPr/>
        </p:nvSpPr>
        <p:spPr>
          <a:xfrm>
            <a:off x="9189720" y="859536"/>
            <a:ext cx="2176272" cy="164592"/>
          </a:xfrm>
          <a:prstGeom prst="rect">
            <a:avLst/>
          </a:prstGeom>
          <a:noFill/>
          <a:ln/>
        </p:spPr>
        <p:txBody>
          <a:bodyPr wrap="square" lIns="762" tIns="762" rIns="762" bIns="762" rtlCol="0" anchor="ctr">
            <a:normAutofit/>
          </a:bodyPr>
          <a:lstStyle/>
          <a:p>
            <a:pPr algn="r" indent="0" marL="0">
              <a:buNone/>
            </a:pPr>
            <a:r>
              <a:rPr lang="en-US" sz="780" dirty="0">
                <a:solidFill>
                  <a:srgbClr val="173242"/>
                </a:solidFill>
                <a:latin typeface="Lato" pitchFamily="34" charset="0"/>
                <a:ea typeface="Lato" pitchFamily="34" charset="-122"/>
                <a:cs typeface="Lato" pitchFamily="34" charset="-120"/>
              </a:rPr>
              <a:t>REVIEW 2 | CSE | SECTION 04 | TEAM 10</a:t>
            </a:r>
            <a:endParaRPr lang="en-US" sz="780" dirty="0"/>
          </a:p>
        </p:txBody>
      </p:sp>
      <p:sp>
        <p:nvSpPr>
          <p:cNvPr id="7" name="Shape 4"/>
          <p:cNvSpPr/>
          <p:nvPr/>
        </p:nvSpPr>
        <p:spPr>
          <a:xfrm>
            <a:off x="384048" y="1069848"/>
            <a:ext cx="11430000" cy="0"/>
          </a:xfrm>
          <a:prstGeom prst="line">
            <a:avLst/>
          </a:prstGeom>
          <a:noFill/>
          <a:ln w="11430">
            <a:solidFill>
              <a:srgbClr val="173242"/>
            </a:solidFill>
            <a:prstDash val="solid"/>
          </a:ln>
        </p:spPr>
      </p:sp>
      <p:sp>
        <p:nvSpPr>
          <p:cNvPr id="8" name="Shape 5"/>
          <p:cNvSpPr/>
          <p:nvPr/>
        </p:nvSpPr>
        <p:spPr>
          <a:xfrm>
            <a:off x="384048" y="6053328"/>
            <a:ext cx="11430000" cy="0"/>
          </a:xfrm>
          <a:prstGeom prst="line">
            <a:avLst/>
          </a:prstGeom>
          <a:noFill/>
          <a:ln w="11430">
            <a:solidFill>
              <a:srgbClr val="173242"/>
            </a:solidFill>
            <a:prstDash val="solid"/>
          </a:ln>
        </p:spPr>
      </p:sp>
      <p:sp>
        <p:nvSpPr>
          <p:cNvPr id="9" name="Text 6"/>
          <p:cNvSpPr/>
          <p:nvPr/>
        </p:nvSpPr>
        <p:spPr>
          <a:xfrm>
            <a:off x="713232" y="6172200"/>
            <a:ext cx="8138160" cy="164592"/>
          </a:xfrm>
          <a:prstGeom prst="rect">
            <a:avLst/>
          </a:prstGeom>
          <a:noFill/>
          <a:ln/>
        </p:spPr>
        <p:txBody>
          <a:bodyPr wrap="square" lIns="762" tIns="762" rIns="762" bIns="762" rtlCol="0" anchor="ctr">
            <a:normAutofit/>
          </a:bodyPr>
          <a:lstStyle/>
          <a:p>
            <a:r>
              <a:rPr sz="800"/>
              <a:t>FITNESS CHALLENGE APP WITH STEP GAMIFICATION</a:t>
            </a:r>
          </a:p>
        </p:txBody>
      </p:sp>
      <p:sp>
        <p:nvSpPr>
          <p:cNvPr id="10" name="Text 7"/>
          <p:cNvSpPr/>
          <p:nvPr/>
        </p:nvSpPr>
        <p:spPr>
          <a:xfrm>
            <a:off x="10241280" y="6172200"/>
            <a:ext cx="1143000" cy="164592"/>
          </a:xfrm>
          <a:prstGeom prst="rect">
            <a:avLst/>
          </a:prstGeom>
          <a:noFill/>
          <a:ln/>
        </p:spPr>
        <p:txBody>
          <a:bodyPr wrap="square" lIns="762" tIns="762" rIns="762" bIns="762" rtlCol="0" anchor="ctr">
            <a:normAutofit/>
          </a:bodyPr>
          <a:lstStyle/>
          <a:p>
            <a:pPr algn="r" indent="0" marL="0">
              <a:buNone/>
            </a:pPr>
            <a:r>
              <a:rPr lang="en-US" sz="690" dirty="0">
                <a:solidFill>
                  <a:srgbClr val="173242"/>
                </a:solidFill>
                <a:latin typeface="Lato" pitchFamily="34" charset="0"/>
                <a:ea typeface="Lato" pitchFamily="34" charset="-122"/>
                <a:cs typeface="Lato" pitchFamily="34" charset="-120"/>
              </a:rPr>
              <a:t>A.Y. 2025–26</a:t>
            </a:r>
            <a:endParaRPr lang="en-US" sz="690" dirty="0"/>
          </a:p>
        </p:txBody>
      </p:sp>
      <p:sp>
        <p:nvSpPr>
          <p:cNvPr id="11" name="Shape 8"/>
          <p:cNvSpPr/>
          <p:nvPr/>
        </p:nvSpPr>
        <p:spPr>
          <a:xfrm>
            <a:off x="384048" y="6364224"/>
            <a:ext cx="11430000" cy="0"/>
          </a:xfrm>
          <a:prstGeom prst="line">
            <a:avLst/>
          </a:prstGeom>
          <a:noFill/>
          <a:ln w="11430">
            <a:solidFill>
              <a:srgbClr val="173242"/>
            </a:solidFill>
            <a:prstDash val="solid"/>
          </a:ln>
        </p:spPr>
      </p:sp>
      <p:sp>
        <p:nvSpPr>
          <p:cNvPr id="12" name="Text 9"/>
          <p:cNvSpPr/>
          <p:nvPr/>
        </p:nvSpPr>
        <p:spPr>
          <a:xfrm>
            <a:off x="804672" y="1234440"/>
            <a:ext cx="2560320" cy="804672"/>
          </a:xfrm>
          <a:prstGeom prst="rect">
            <a:avLst/>
          </a:prstGeom>
          <a:noFill/>
          <a:ln/>
        </p:spPr>
        <p:txBody>
          <a:bodyPr wrap="square" lIns="762" tIns="762" rIns="762" bIns="762" rtlCol="0" anchor="ctr">
            <a:normAutofit/>
          </a:bodyPr>
          <a:lstStyle/>
          <a:p>
            <a:r>
              <a:rPr sz="2900" b="1"/>
              <a:t>FEATURE</a:t>
            </a:r>
          </a:p>
          <a:p>
            <a:r>
              <a:rPr sz="2900" b="1"/>
              <a:t>MODULES</a:t>
            </a:r>
          </a:p>
        </p:txBody>
      </p:sp>
      <p:sp>
        <p:nvSpPr>
          <p:cNvPr id="13" name="Text 10"/>
          <p:cNvSpPr/>
          <p:nvPr/>
        </p:nvSpPr>
        <p:spPr>
          <a:xfrm>
            <a:off x="3401568" y="1243584"/>
            <a:ext cx="7726680" cy="685800"/>
          </a:xfrm>
          <a:prstGeom prst="rect">
            <a:avLst/>
          </a:prstGeom>
          <a:solidFill>
            <a:srgbClr val="EEF4DD"/>
          </a:solidFill>
          <a:ln w="12700">
            <a:solidFill>
              <a:srgbClr val="173242"/>
            </a:solidFill>
          </a:ln>
        </p:spPr>
        <p:txBody>
          <a:bodyPr wrap="square" lIns="762" tIns="762" rIns="762" bIns="762" rtlCol="0" anchor="ctr">
            <a:normAutofit/>
          </a:bodyPr>
          <a:lstStyle/>
          <a:p>
            <a:r>
              <a:rPr sz="1700"/>
              <a:t>Four assigned work areas connect through Spring Boot REST APIs and MySQL. The implementation detail below follows the project submission; completion still requires demonstration.</a:t>
            </a:r>
          </a:p>
        </p:txBody>
      </p:sp>
      <p:sp>
        <p:nvSpPr>
          <p:cNvPr id="14" name="Text 11"/>
          <p:cNvSpPr/>
          <p:nvPr/>
        </p:nvSpPr>
        <p:spPr>
          <a:xfrm>
            <a:off x="822960" y="2423160"/>
            <a:ext cx="640080" cy="530352"/>
          </a:xfrm>
          <a:prstGeom prst="rect">
            <a:avLst/>
          </a:prstGeom>
          <a:solidFill>
            <a:srgbClr val="176563"/>
          </a:solidFill>
          <a:ln w="12700">
            <a:solidFill>
              <a:srgbClr val="176563"/>
            </a:solidFill>
          </a:ln>
        </p:spPr>
        <p:txBody>
          <a:bodyPr wrap="square" lIns="762" tIns="762" rIns="762" bIns="762" rtlCol="0" anchor="ctr">
            <a:normAutofit/>
          </a:bodyPr>
          <a:lstStyle/>
          <a:p>
            <a:pPr algn="ctr" indent="0" marL="0">
              <a:buNone/>
            </a:pPr>
            <a:r>
              <a:rPr lang="en-US" sz="1800" b="1" dirty="0">
                <a:solidFill>
                  <a:srgbClr val="FFFFFF"/>
                </a:solidFill>
                <a:latin typeface="Lato" pitchFamily="34" charset="0"/>
                <a:ea typeface="Lato" pitchFamily="34" charset="-122"/>
                <a:cs typeface="Lato" pitchFamily="34" charset="-120"/>
              </a:rPr>
              <a:t>01</a:t>
            </a:r>
            <a:endParaRPr lang="en-US" sz="1800" dirty="0"/>
          </a:p>
        </p:txBody>
      </p:sp>
      <p:sp>
        <p:nvSpPr>
          <p:cNvPr id="15" name="Text 12"/>
          <p:cNvSpPr/>
          <p:nvPr/>
        </p:nvSpPr>
        <p:spPr>
          <a:xfrm>
            <a:off x="1572768" y="2423160"/>
            <a:ext cx="4160520" cy="256032"/>
          </a:xfrm>
          <a:prstGeom prst="rect">
            <a:avLst/>
          </a:prstGeom>
          <a:noFill/>
          <a:ln/>
        </p:spPr>
        <p:txBody>
          <a:bodyPr wrap="square" lIns="762" tIns="762" rIns="762" bIns="762" rtlCol="0" anchor="ctr">
            <a:normAutofit/>
          </a:bodyPr>
          <a:lstStyle/>
          <a:p>
            <a:r>
              <a:rPr sz="1600" b="1"/>
              <a:t>Authentication &amp; Profile</a:t>
            </a:r>
          </a:p>
        </p:txBody>
      </p:sp>
      <p:sp>
        <p:nvSpPr>
          <p:cNvPr id="16" name="Text 13"/>
          <p:cNvSpPr/>
          <p:nvPr/>
        </p:nvSpPr>
        <p:spPr>
          <a:xfrm>
            <a:off x="1572768" y="2743200"/>
            <a:ext cx="4160520" cy="502920"/>
          </a:xfrm>
          <a:prstGeom prst="rect">
            <a:avLst/>
          </a:prstGeom>
          <a:solidFill>
            <a:srgbClr val="FAFCF0"/>
          </a:solidFill>
          <a:ln w="12700">
            <a:solidFill>
              <a:srgbClr val="176563"/>
            </a:solidFill>
          </a:ln>
        </p:spPr>
        <p:txBody>
          <a:bodyPr wrap="square" lIns="762" tIns="762" rIns="762" bIns="762" rtlCol="0" anchor="ctr">
            <a:normAutofit/>
          </a:bodyPr>
          <a:lstStyle/>
          <a:p>
            <a:r>
              <a:rPr sz="1300"/>
              <a:t>Registration, JWT login, authorization and profile APIs.</a:t>
            </a:r>
          </a:p>
        </p:txBody>
      </p:sp>
      <p:sp>
        <p:nvSpPr>
          <p:cNvPr id="17" name="Text 14"/>
          <p:cNvSpPr/>
          <p:nvPr/>
        </p:nvSpPr>
        <p:spPr>
          <a:xfrm>
            <a:off x="6172200" y="2423160"/>
            <a:ext cx="640080" cy="530352"/>
          </a:xfrm>
          <a:prstGeom prst="rect">
            <a:avLst/>
          </a:prstGeom>
          <a:solidFill>
            <a:srgbClr val="9F303A"/>
          </a:solidFill>
          <a:ln w="12700">
            <a:solidFill>
              <a:srgbClr val="9F303A"/>
            </a:solidFill>
          </a:ln>
        </p:spPr>
        <p:txBody>
          <a:bodyPr wrap="square" lIns="762" tIns="762" rIns="762" bIns="762" rtlCol="0" anchor="ctr">
            <a:normAutofit/>
          </a:bodyPr>
          <a:lstStyle/>
          <a:p>
            <a:pPr algn="ctr" indent="0" marL="0">
              <a:buNone/>
            </a:pPr>
            <a:r>
              <a:rPr lang="en-US" sz="1800" b="1" dirty="0">
                <a:solidFill>
                  <a:srgbClr val="FFFFFF"/>
                </a:solidFill>
                <a:latin typeface="Lato" pitchFamily="34" charset="0"/>
                <a:ea typeface="Lato" pitchFamily="34" charset="-122"/>
                <a:cs typeface="Lato" pitchFamily="34" charset="-120"/>
              </a:rPr>
              <a:t>02</a:t>
            </a:r>
            <a:endParaRPr lang="en-US" sz="1800" dirty="0"/>
          </a:p>
        </p:txBody>
      </p:sp>
      <p:sp>
        <p:nvSpPr>
          <p:cNvPr id="18" name="Text 15"/>
          <p:cNvSpPr/>
          <p:nvPr/>
        </p:nvSpPr>
        <p:spPr>
          <a:xfrm>
            <a:off x="6922008" y="2423160"/>
            <a:ext cx="4160520" cy="256032"/>
          </a:xfrm>
          <a:prstGeom prst="rect">
            <a:avLst/>
          </a:prstGeom>
          <a:noFill/>
          <a:ln/>
        </p:spPr>
        <p:txBody>
          <a:bodyPr wrap="square" lIns="762" tIns="762" rIns="762" bIns="762" rtlCol="0" anchor="ctr">
            <a:normAutofit/>
          </a:bodyPr>
          <a:lstStyle/>
          <a:p>
            <a:r>
              <a:rPr sz="1600" b="1"/>
              <a:t>Steps &amp; Progress</a:t>
            </a:r>
          </a:p>
        </p:txBody>
      </p:sp>
      <p:sp>
        <p:nvSpPr>
          <p:cNvPr id="19" name="Text 16"/>
          <p:cNvSpPr/>
          <p:nvPr/>
        </p:nvSpPr>
        <p:spPr>
          <a:xfrm>
            <a:off x="6922008" y="2743200"/>
            <a:ext cx="4160520" cy="502920"/>
          </a:xfrm>
          <a:prstGeom prst="rect">
            <a:avLst/>
          </a:prstGeom>
          <a:solidFill>
            <a:srgbClr val="FAFCF0"/>
          </a:solidFill>
          <a:ln w="12700">
            <a:solidFill>
              <a:srgbClr val="9F303A"/>
            </a:solidFill>
          </a:ln>
        </p:spPr>
        <p:txBody>
          <a:bodyPr wrap="square" lIns="762" tIns="762" rIns="762" bIns="762" rtlCol="0" anchor="ctr">
            <a:normAutofit/>
          </a:bodyPr>
          <a:lstStyle/>
          <a:p>
            <a:r>
              <a:rPr sz="1300"/>
              <a:t>Daily records, goal progress, idempotent sync and weekly/monthly analytics.</a:t>
            </a:r>
          </a:p>
        </p:txBody>
      </p:sp>
      <p:sp>
        <p:nvSpPr>
          <p:cNvPr id="20" name="Text 17"/>
          <p:cNvSpPr/>
          <p:nvPr/>
        </p:nvSpPr>
        <p:spPr>
          <a:xfrm>
            <a:off x="822960" y="4069080"/>
            <a:ext cx="640080" cy="530352"/>
          </a:xfrm>
          <a:prstGeom prst="rect">
            <a:avLst/>
          </a:prstGeom>
          <a:solidFill>
            <a:srgbClr val="176563"/>
          </a:solidFill>
          <a:ln w="12700">
            <a:solidFill>
              <a:srgbClr val="176563"/>
            </a:solidFill>
          </a:ln>
        </p:spPr>
        <p:txBody>
          <a:bodyPr wrap="square" lIns="762" tIns="762" rIns="762" bIns="762" rtlCol="0" anchor="ctr">
            <a:normAutofit/>
          </a:bodyPr>
          <a:lstStyle/>
          <a:p>
            <a:pPr algn="ctr" indent="0" marL="0">
              <a:buNone/>
            </a:pPr>
            <a:r>
              <a:rPr lang="en-US" sz="1800" b="1" dirty="0">
                <a:solidFill>
                  <a:srgbClr val="FFFFFF"/>
                </a:solidFill>
                <a:latin typeface="Lato" pitchFamily="34" charset="0"/>
                <a:ea typeface="Lato" pitchFamily="34" charset="-122"/>
                <a:cs typeface="Lato" pitchFamily="34" charset="-120"/>
              </a:rPr>
              <a:t>03</a:t>
            </a:r>
            <a:endParaRPr lang="en-US" sz="1800" dirty="0"/>
          </a:p>
        </p:txBody>
      </p:sp>
      <p:sp>
        <p:nvSpPr>
          <p:cNvPr id="21" name="Text 18"/>
          <p:cNvSpPr/>
          <p:nvPr/>
        </p:nvSpPr>
        <p:spPr>
          <a:xfrm>
            <a:off x="1572768" y="4069080"/>
            <a:ext cx="4160520" cy="256032"/>
          </a:xfrm>
          <a:prstGeom prst="rect">
            <a:avLst/>
          </a:prstGeom>
          <a:noFill/>
          <a:ln/>
        </p:spPr>
        <p:txBody>
          <a:bodyPr wrap="square" lIns="762" tIns="762" rIns="762" bIns="762" rtlCol="0" anchor="ctr">
            <a:normAutofit/>
          </a:bodyPr>
          <a:lstStyle/>
          <a:p>
            <a:r>
              <a:rPr sz="1600" b="1"/>
              <a:t>Challenges &amp; Leaderboard</a:t>
            </a:r>
          </a:p>
        </p:txBody>
      </p:sp>
      <p:sp>
        <p:nvSpPr>
          <p:cNvPr id="22" name="Text 19"/>
          <p:cNvSpPr/>
          <p:nvPr/>
        </p:nvSpPr>
        <p:spPr>
          <a:xfrm>
            <a:off x="1572768" y="4389120"/>
            <a:ext cx="4160520" cy="502920"/>
          </a:xfrm>
          <a:prstGeom prst="rect">
            <a:avLst/>
          </a:prstGeom>
          <a:solidFill>
            <a:srgbClr val="FAFCF0"/>
          </a:solidFill>
          <a:ln w="12700">
            <a:solidFill>
              <a:srgbClr val="176563"/>
            </a:solidFill>
          </a:ln>
        </p:spPr>
        <p:txBody>
          <a:bodyPr wrap="square" lIns="762" tIns="762" rIns="762" bIns="762" rtlCol="0" anchor="ctr">
            <a:normAutofit/>
          </a:bodyPr>
          <a:lstStyle/>
          <a:p>
            <a:r>
              <a:rPr sz="1300"/>
              <a:t>Create/join challenges, record completion and rank participants by steps.</a:t>
            </a:r>
          </a:p>
        </p:txBody>
      </p:sp>
      <p:sp>
        <p:nvSpPr>
          <p:cNvPr id="23" name="Text 20"/>
          <p:cNvSpPr/>
          <p:nvPr/>
        </p:nvSpPr>
        <p:spPr>
          <a:xfrm>
            <a:off x="6172200" y="4069080"/>
            <a:ext cx="640080" cy="530352"/>
          </a:xfrm>
          <a:prstGeom prst="rect">
            <a:avLst/>
          </a:prstGeom>
          <a:solidFill>
            <a:srgbClr val="9F303A"/>
          </a:solidFill>
          <a:ln w="12700">
            <a:solidFill>
              <a:srgbClr val="9F303A"/>
            </a:solidFill>
          </a:ln>
        </p:spPr>
        <p:txBody>
          <a:bodyPr wrap="square" lIns="762" tIns="762" rIns="762" bIns="762" rtlCol="0" anchor="ctr">
            <a:normAutofit/>
          </a:bodyPr>
          <a:lstStyle/>
          <a:p>
            <a:pPr algn="ctr" indent="0" marL="0">
              <a:buNone/>
            </a:pPr>
            <a:r>
              <a:rPr lang="en-US" sz="1800" b="1" dirty="0">
                <a:solidFill>
                  <a:srgbClr val="FFFFFF"/>
                </a:solidFill>
                <a:latin typeface="Lato" pitchFamily="34" charset="0"/>
                <a:ea typeface="Lato" pitchFamily="34" charset="-122"/>
                <a:cs typeface="Lato" pitchFamily="34" charset="-120"/>
              </a:rPr>
              <a:t>04</a:t>
            </a:r>
            <a:endParaRPr lang="en-US" sz="1800" dirty="0"/>
          </a:p>
        </p:txBody>
      </p:sp>
      <p:sp>
        <p:nvSpPr>
          <p:cNvPr id="24" name="Text 21"/>
          <p:cNvSpPr/>
          <p:nvPr/>
        </p:nvSpPr>
        <p:spPr>
          <a:xfrm>
            <a:off x="6922008" y="4069080"/>
            <a:ext cx="4160520" cy="256032"/>
          </a:xfrm>
          <a:prstGeom prst="rect">
            <a:avLst/>
          </a:prstGeom>
          <a:noFill/>
          <a:ln/>
        </p:spPr>
        <p:txBody>
          <a:bodyPr wrap="square" lIns="762" tIns="762" rIns="762" bIns="762" rtlCol="0" anchor="ctr">
            <a:normAutofit/>
          </a:bodyPr>
          <a:lstStyle/>
          <a:p>
            <a:r>
              <a:rPr sz="1600" b="1"/>
              <a:t>Friends, Rewards &amp; Analytics</a:t>
            </a:r>
          </a:p>
        </p:txBody>
      </p:sp>
      <p:sp>
        <p:nvSpPr>
          <p:cNvPr id="25" name="Text 22"/>
          <p:cNvSpPr/>
          <p:nvPr/>
        </p:nvSpPr>
        <p:spPr>
          <a:xfrm>
            <a:off x="6922008" y="4389120"/>
            <a:ext cx="4160520" cy="502920"/>
          </a:xfrm>
          <a:prstGeom prst="rect">
            <a:avLst/>
          </a:prstGeom>
          <a:solidFill>
            <a:srgbClr val="FAFCF0"/>
          </a:solidFill>
          <a:ln w="12700">
            <a:solidFill>
              <a:srgbClr val="9F303A"/>
            </a:solidFill>
          </a:ln>
        </p:spPr>
        <p:txBody>
          <a:bodyPr wrap="square" lIns="762" tIns="762" rIns="762" bIns="762" rtlCol="0" anchor="ctr">
            <a:normAutofit/>
          </a:bodyPr>
          <a:lstStyle/>
          <a:p>
            <a:r>
              <a:rPr sz="1300"/>
              <a:t>Friend requests, points, streaks, badges, coins, redemptions and analytics.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AED"/>
        </a:solidFill>
      </p:bgPr>
    </p:bg>
    <p:spTree>
      <p:nvGrpSpPr>
        <p:cNvPr id="1" name=""/>
        <p:cNvGrpSpPr/>
        <p:nvPr/>
      </p:nvGrpSpPr>
      <p:grpSpPr>
        <a:xfrm>
          <a:off x="0" y="0"/>
          <a:ext cx="0" cy="0"/>
          <a:chOff x="0" y="0"/>
          <a:chExt cx="0" cy="0"/>
        </a:xfrm>
      </p:grpSpPr>
      <p:sp>
        <p:nvSpPr>
          <p:cNvPr id="2" name="Shape 0"/>
          <p:cNvSpPr/>
          <p:nvPr/>
        </p:nvSpPr>
        <p:spPr>
          <a:xfrm>
            <a:off x="384048" y="91440"/>
            <a:ext cx="11430000" cy="6583680"/>
          </a:xfrm>
          <a:prstGeom prst="rect">
            <a:avLst/>
          </a:prstGeom>
          <a:solidFill>
            <a:srgbClr val="F7FAED">
              <a:alpha val="0"/>
            </a:srgbClr>
          </a:solidFill>
          <a:ln w="12700">
            <a:solidFill>
              <a:srgbClr val="CBD6BB"/>
            </a:solidFill>
            <a:prstDash val="solid"/>
          </a:ln>
        </p:spPr>
      </p:sp>
      <p:pic>
        <p:nvPicPr>
          <p:cNvPr id="3" name="Image 0" descr="/mnt/data/mlppt_unzip/ppt/media/image1.png">    </p:cNvPr>
          <p:cNvPicPr>
            <a:picLocks noChangeAspect="1"/>
          </p:cNvPicPr>
          <p:nvPr/>
        </p:nvPicPr>
        <p:blipFill>
          <a:blip r:embed="rId1"/>
          <a:stretch>
            <a:fillRect/>
          </a:stretch>
        </p:blipFill>
        <p:spPr>
          <a:xfrm>
            <a:off x="658368" y="173736"/>
            <a:ext cx="1243584" cy="457200"/>
          </a:xfrm>
          <a:prstGeom prst="rect">
            <a:avLst/>
          </a:prstGeom>
        </p:spPr>
      </p:pic>
      <p:sp>
        <p:nvSpPr>
          <p:cNvPr id="4" name="Text 1"/>
          <p:cNvSpPr/>
          <p:nvPr/>
        </p:nvSpPr>
        <p:spPr>
          <a:xfrm>
            <a:off x="2039112" y="164592"/>
            <a:ext cx="6858000" cy="438912"/>
          </a:xfrm>
          <a:prstGeom prst="rect">
            <a:avLst/>
          </a:prstGeom>
          <a:noFill/>
          <a:ln/>
        </p:spPr>
        <p:txBody>
          <a:bodyPr wrap="square" lIns="762" tIns="762" rIns="762" bIns="762" rtlCol="0" anchor="ctr">
            <a:normAutofit/>
          </a:bodyPr>
          <a:lstStyle/>
          <a:p>
            <a:pPr algn="l" indent="0" marL="0">
              <a:buNone/>
            </a:pPr>
            <a:r>
              <a:rPr lang="en-US" sz="2300" b="1" dirty="0">
                <a:solidFill>
                  <a:srgbClr val="173242"/>
                </a:solidFill>
                <a:latin typeface="Lato" pitchFamily="34" charset="0"/>
                <a:ea typeface="Lato" pitchFamily="34" charset="-122"/>
                <a:cs typeface="Lato" pitchFamily="34" charset="-120"/>
              </a:rPr>
              <a:t>FITNESS CHALLENGE APP</a:t>
            </a:r>
            <a:endParaRPr lang="en-US" sz="2300" dirty="0"/>
          </a:p>
        </p:txBody>
      </p:sp>
      <p:sp>
        <p:nvSpPr>
          <p:cNvPr id="5" name="Shape 2"/>
          <p:cNvSpPr/>
          <p:nvPr/>
        </p:nvSpPr>
        <p:spPr>
          <a:xfrm>
            <a:off x="384048" y="758952"/>
            <a:ext cx="11430000" cy="0"/>
          </a:xfrm>
          <a:prstGeom prst="line">
            <a:avLst/>
          </a:prstGeom>
          <a:noFill/>
          <a:ln w="11430">
            <a:solidFill>
              <a:srgbClr val="173242"/>
            </a:solidFill>
            <a:prstDash val="solid"/>
          </a:ln>
        </p:spPr>
      </p:sp>
      <p:sp>
        <p:nvSpPr>
          <p:cNvPr id="6" name="Text 3"/>
          <p:cNvSpPr/>
          <p:nvPr/>
        </p:nvSpPr>
        <p:spPr>
          <a:xfrm>
            <a:off x="9189720" y="859536"/>
            <a:ext cx="2176272" cy="164592"/>
          </a:xfrm>
          <a:prstGeom prst="rect">
            <a:avLst/>
          </a:prstGeom>
          <a:noFill/>
          <a:ln/>
        </p:spPr>
        <p:txBody>
          <a:bodyPr wrap="square" lIns="762" tIns="762" rIns="762" bIns="762" rtlCol="0" anchor="ctr">
            <a:normAutofit/>
          </a:bodyPr>
          <a:lstStyle/>
          <a:p>
            <a:pPr algn="r" indent="0" marL="0">
              <a:buNone/>
            </a:pPr>
            <a:r>
              <a:rPr lang="en-US" sz="780" dirty="0">
                <a:solidFill>
                  <a:srgbClr val="173242"/>
                </a:solidFill>
                <a:latin typeface="Lato" pitchFamily="34" charset="0"/>
                <a:ea typeface="Lato" pitchFamily="34" charset="-122"/>
                <a:cs typeface="Lato" pitchFamily="34" charset="-120"/>
              </a:rPr>
              <a:t>REVIEW 2 | CSE | SECTION 04 | TEAM 10</a:t>
            </a:r>
            <a:endParaRPr lang="en-US" sz="780" dirty="0"/>
          </a:p>
        </p:txBody>
      </p:sp>
      <p:sp>
        <p:nvSpPr>
          <p:cNvPr id="7" name="Shape 4"/>
          <p:cNvSpPr/>
          <p:nvPr/>
        </p:nvSpPr>
        <p:spPr>
          <a:xfrm>
            <a:off x="384048" y="1069848"/>
            <a:ext cx="11430000" cy="0"/>
          </a:xfrm>
          <a:prstGeom prst="line">
            <a:avLst/>
          </a:prstGeom>
          <a:noFill/>
          <a:ln w="11430">
            <a:solidFill>
              <a:srgbClr val="173242"/>
            </a:solidFill>
            <a:prstDash val="solid"/>
          </a:ln>
        </p:spPr>
      </p:sp>
      <p:sp>
        <p:nvSpPr>
          <p:cNvPr id="8" name="Shape 5"/>
          <p:cNvSpPr/>
          <p:nvPr/>
        </p:nvSpPr>
        <p:spPr>
          <a:xfrm>
            <a:off x="384048" y="6053328"/>
            <a:ext cx="11430000" cy="0"/>
          </a:xfrm>
          <a:prstGeom prst="line">
            <a:avLst/>
          </a:prstGeom>
          <a:noFill/>
          <a:ln w="11430">
            <a:solidFill>
              <a:srgbClr val="173242"/>
            </a:solidFill>
            <a:prstDash val="solid"/>
          </a:ln>
        </p:spPr>
      </p:sp>
      <p:sp>
        <p:nvSpPr>
          <p:cNvPr id="9" name="Text 6"/>
          <p:cNvSpPr/>
          <p:nvPr/>
        </p:nvSpPr>
        <p:spPr>
          <a:xfrm>
            <a:off x="713232" y="6172200"/>
            <a:ext cx="8138160" cy="164592"/>
          </a:xfrm>
          <a:prstGeom prst="rect">
            <a:avLst/>
          </a:prstGeom>
          <a:noFill/>
          <a:ln/>
        </p:spPr>
        <p:txBody>
          <a:bodyPr wrap="square" lIns="762" tIns="762" rIns="762" bIns="762" rtlCol="0" anchor="ctr">
            <a:normAutofit/>
          </a:bodyPr>
          <a:lstStyle/>
          <a:p>
            <a:r>
              <a:rPr sz="800"/>
              <a:t>FITNESS CHALLENGE APP WITH STEP GAMIFICATION</a:t>
            </a:r>
          </a:p>
        </p:txBody>
      </p:sp>
      <p:sp>
        <p:nvSpPr>
          <p:cNvPr id="10" name="Text 7"/>
          <p:cNvSpPr/>
          <p:nvPr/>
        </p:nvSpPr>
        <p:spPr>
          <a:xfrm>
            <a:off x="10241280" y="6172200"/>
            <a:ext cx="1143000" cy="164592"/>
          </a:xfrm>
          <a:prstGeom prst="rect">
            <a:avLst/>
          </a:prstGeom>
          <a:noFill/>
          <a:ln/>
        </p:spPr>
        <p:txBody>
          <a:bodyPr wrap="square" lIns="762" tIns="762" rIns="762" bIns="762" rtlCol="0" anchor="ctr">
            <a:normAutofit/>
          </a:bodyPr>
          <a:lstStyle/>
          <a:p>
            <a:pPr algn="r" indent="0" marL="0">
              <a:buNone/>
            </a:pPr>
            <a:r>
              <a:rPr lang="en-US" sz="690" dirty="0">
                <a:solidFill>
                  <a:srgbClr val="173242"/>
                </a:solidFill>
                <a:latin typeface="Lato" pitchFamily="34" charset="0"/>
                <a:ea typeface="Lato" pitchFamily="34" charset="-122"/>
                <a:cs typeface="Lato" pitchFamily="34" charset="-120"/>
              </a:rPr>
              <a:t>A.Y. 2025–26</a:t>
            </a:r>
            <a:endParaRPr lang="en-US" sz="690" dirty="0"/>
          </a:p>
        </p:txBody>
      </p:sp>
      <p:sp>
        <p:nvSpPr>
          <p:cNvPr id="11" name="Shape 8"/>
          <p:cNvSpPr/>
          <p:nvPr/>
        </p:nvSpPr>
        <p:spPr>
          <a:xfrm>
            <a:off x="384048" y="6364224"/>
            <a:ext cx="11430000" cy="0"/>
          </a:xfrm>
          <a:prstGeom prst="line">
            <a:avLst/>
          </a:prstGeom>
          <a:noFill/>
          <a:ln w="11430">
            <a:solidFill>
              <a:srgbClr val="173242"/>
            </a:solidFill>
            <a:prstDash val="solid"/>
          </a:ln>
        </p:spPr>
      </p:sp>
      <p:sp>
        <p:nvSpPr>
          <p:cNvPr id="12" name="Text 9"/>
          <p:cNvSpPr/>
          <p:nvPr/>
        </p:nvSpPr>
        <p:spPr>
          <a:xfrm>
            <a:off x="868680" y="1207008"/>
            <a:ext cx="1965960" cy="804672"/>
          </a:xfrm>
          <a:prstGeom prst="rect">
            <a:avLst/>
          </a:prstGeom>
          <a:noFill/>
          <a:ln/>
        </p:spPr>
        <p:txBody>
          <a:bodyPr wrap="square" lIns="762" tIns="762" rIns="762" bIns="762" rtlCol="0" anchor="ctr">
            <a:normAutofit/>
          </a:bodyPr>
          <a:lstStyle/>
          <a:p>
            <a:r>
              <a:rPr sz="3100" b="1"/>
              <a:t>API</a:t>
            </a:r>
          </a:p>
          <a:p>
            <a:r>
              <a:rPr sz="3100" b="1"/>
              <a:t>FLOW</a:t>
            </a:r>
          </a:p>
        </p:txBody>
      </p:sp>
      <p:sp>
        <p:nvSpPr>
          <p:cNvPr id="13" name="Text 10"/>
          <p:cNvSpPr/>
          <p:nvPr/>
        </p:nvSpPr>
        <p:spPr>
          <a:xfrm>
            <a:off x="3200400" y="1234440"/>
            <a:ext cx="8001000" cy="804672"/>
          </a:xfrm>
          <a:prstGeom prst="rect">
            <a:avLst/>
          </a:prstGeom>
          <a:solidFill>
            <a:srgbClr val="EEF4DD"/>
          </a:solidFill>
          <a:ln w="12700">
            <a:solidFill>
              <a:srgbClr val="173242"/>
            </a:solidFill>
          </a:ln>
        </p:spPr>
        <p:txBody>
          <a:bodyPr wrap="square" lIns="762" tIns="762" rIns="762" bIns="762" rtlCol="0" anchor="ctr">
            <a:normAutofit/>
          </a:bodyPr>
          <a:lstStyle/>
          <a:p>
            <a:r>
              <a:rPr sz="1600"/>
              <a:t>JWT identity accompanies protected requests. Controllers route calls to service validation and MySQL persistence. Route names below are a proposed contract and must be confirmed against the implementation.</a:t>
            </a:r>
          </a:p>
        </p:txBody>
      </p:sp>
      <p:sp>
        <p:nvSpPr>
          <p:cNvPr id="14" name="Text 11"/>
          <p:cNvSpPr/>
          <p:nvPr/>
        </p:nvSpPr>
        <p:spPr>
          <a:xfrm>
            <a:off x="804672" y="2395728"/>
            <a:ext cx="1207008" cy="457200"/>
          </a:xfrm>
          <a:prstGeom prst="rect">
            <a:avLst/>
          </a:prstGeom>
          <a:solidFill>
            <a:srgbClr val="176563"/>
          </a:solidFill>
          <a:ln w="12700">
            <a:solidFill>
              <a:srgbClr val="176563"/>
            </a:solidFill>
          </a:ln>
        </p:spPr>
        <p:txBody>
          <a:bodyPr wrap="square" lIns="762" tIns="762" rIns="762" bIns="762" rtlCol="0" anchor="ctr">
            <a:normAutofit/>
          </a:bodyPr>
          <a:lstStyle/>
          <a:p>
            <a:r>
              <a:rPr sz="1000" b="1"/>
              <a:t>LOGIN</a:t>
            </a:r>
          </a:p>
        </p:txBody>
      </p:sp>
      <p:sp>
        <p:nvSpPr>
          <p:cNvPr id="15" name="Text 12"/>
          <p:cNvSpPr/>
          <p:nvPr/>
        </p:nvSpPr>
        <p:spPr>
          <a:xfrm>
            <a:off x="2112264" y="2468880"/>
            <a:ext cx="228600" cy="228600"/>
          </a:xfrm>
          <a:prstGeom prst="rect">
            <a:avLst/>
          </a:prstGeom>
          <a:noFill/>
          <a:ln/>
        </p:spPr>
        <p:txBody>
          <a:bodyPr wrap="square" lIns="762" tIns="762" rIns="762" bIns="762" rtlCol="0" anchor="ctr">
            <a:normAutofit/>
          </a:bodyPr>
          <a:lstStyle/>
          <a:p>
            <a:pPr algn="ctr" indent="0" marL="0">
              <a:buNone/>
            </a:pPr>
            <a:r>
              <a:rPr lang="en-US" sz="1800" b="1" dirty="0">
                <a:solidFill>
                  <a:srgbClr val="173242"/>
                </a:solidFill>
                <a:latin typeface="Lato" pitchFamily="34" charset="0"/>
                <a:ea typeface="Lato" pitchFamily="34" charset="-122"/>
                <a:cs typeface="Lato" pitchFamily="34" charset="-120"/>
              </a:rPr>
              <a:t>→</a:t>
            </a:r>
            <a:endParaRPr lang="en-US" sz="1800" dirty="0"/>
          </a:p>
        </p:txBody>
      </p:sp>
      <p:sp>
        <p:nvSpPr>
          <p:cNvPr id="16" name="Text 13"/>
          <p:cNvSpPr/>
          <p:nvPr/>
        </p:nvSpPr>
        <p:spPr>
          <a:xfrm>
            <a:off x="2560320" y="2395728"/>
            <a:ext cx="1207008" cy="457200"/>
          </a:xfrm>
          <a:prstGeom prst="rect">
            <a:avLst/>
          </a:prstGeom>
          <a:solidFill>
            <a:srgbClr val="9F303A"/>
          </a:solidFill>
          <a:ln w="12700">
            <a:solidFill>
              <a:srgbClr val="9F303A"/>
            </a:solidFill>
          </a:ln>
        </p:spPr>
        <p:txBody>
          <a:bodyPr wrap="square" lIns="762" tIns="762" rIns="762" bIns="762" rtlCol="0" anchor="ctr">
            <a:normAutofit/>
          </a:bodyPr>
          <a:lstStyle/>
          <a:p>
            <a:r>
              <a:rPr sz="1000" b="1"/>
              <a:t>TOKEN</a:t>
            </a:r>
          </a:p>
        </p:txBody>
      </p:sp>
      <p:sp>
        <p:nvSpPr>
          <p:cNvPr id="17" name="Text 14"/>
          <p:cNvSpPr/>
          <p:nvPr/>
        </p:nvSpPr>
        <p:spPr>
          <a:xfrm>
            <a:off x="3867912" y="2468880"/>
            <a:ext cx="228600" cy="228600"/>
          </a:xfrm>
          <a:prstGeom prst="rect">
            <a:avLst/>
          </a:prstGeom>
          <a:noFill/>
          <a:ln/>
        </p:spPr>
        <p:txBody>
          <a:bodyPr wrap="square" lIns="762" tIns="762" rIns="762" bIns="762" rtlCol="0" anchor="ctr">
            <a:normAutofit/>
          </a:bodyPr>
          <a:lstStyle/>
          <a:p>
            <a:pPr algn="ctr" indent="0" marL="0">
              <a:buNone/>
            </a:pPr>
            <a:r>
              <a:rPr lang="en-US" sz="1800" b="1" dirty="0">
                <a:solidFill>
                  <a:srgbClr val="173242"/>
                </a:solidFill>
                <a:latin typeface="Lato" pitchFamily="34" charset="0"/>
                <a:ea typeface="Lato" pitchFamily="34" charset="-122"/>
                <a:cs typeface="Lato" pitchFamily="34" charset="-120"/>
              </a:rPr>
              <a:t>→</a:t>
            </a:r>
            <a:endParaRPr lang="en-US" sz="1800" dirty="0"/>
          </a:p>
        </p:txBody>
      </p:sp>
      <p:sp>
        <p:nvSpPr>
          <p:cNvPr id="18" name="Text 15"/>
          <p:cNvSpPr/>
          <p:nvPr/>
        </p:nvSpPr>
        <p:spPr>
          <a:xfrm>
            <a:off x="4315968" y="2395728"/>
            <a:ext cx="1207008" cy="457200"/>
          </a:xfrm>
          <a:prstGeom prst="rect">
            <a:avLst/>
          </a:prstGeom>
          <a:solidFill>
            <a:srgbClr val="176563"/>
          </a:solidFill>
          <a:ln w="12700">
            <a:solidFill>
              <a:srgbClr val="176563"/>
            </a:solidFill>
          </a:ln>
        </p:spPr>
        <p:txBody>
          <a:bodyPr wrap="square" lIns="762" tIns="762" rIns="762" bIns="762" rtlCol="0" anchor="ctr">
            <a:normAutofit/>
          </a:bodyPr>
          <a:lstStyle/>
          <a:p>
            <a:r>
              <a:rPr sz="1000" b="1"/>
              <a:t>API ROUTE</a:t>
            </a:r>
          </a:p>
        </p:txBody>
      </p:sp>
      <p:sp>
        <p:nvSpPr>
          <p:cNvPr id="19" name="Text 16"/>
          <p:cNvSpPr/>
          <p:nvPr/>
        </p:nvSpPr>
        <p:spPr>
          <a:xfrm>
            <a:off x="5623560" y="2468880"/>
            <a:ext cx="228600" cy="228600"/>
          </a:xfrm>
          <a:prstGeom prst="rect">
            <a:avLst/>
          </a:prstGeom>
          <a:noFill/>
          <a:ln/>
        </p:spPr>
        <p:txBody>
          <a:bodyPr wrap="square" lIns="762" tIns="762" rIns="762" bIns="762" rtlCol="0" anchor="ctr">
            <a:normAutofit/>
          </a:bodyPr>
          <a:lstStyle/>
          <a:p>
            <a:pPr algn="ctr" indent="0" marL="0">
              <a:buNone/>
            </a:pPr>
            <a:r>
              <a:rPr lang="en-US" sz="1800" b="1" dirty="0">
                <a:solidFill>
                  <a:srgbClr val="173242"/>
                </a:solidFill>
                <a:latin typeface="Lato" pitchFamily="34" charset="0"/>
                <a:ea typeface="Lato" pitchFamily="34" charset="-122"/>
                <a:cs typeface="Lato" pitchFamily="34" charset="-120"/>
              </a:rPr>
              <a:t>→</a:t>
            </a:r>
            <a:endParaRPr lang="en-US" sz="1800" dirty="0"/>
          </a:p>
        </p:txBody>
      </p:sp>
      <p:sp>
        <p:nvSpPr>
          <p:cNvPr id="20" name="Text 17"/>
          <p:cNvSpPr/>
          <p:nvPr/>
        </p:nvSpPr>
        <p:spPr>
          <a:xfrm>
            <a:off x="6071616" y="2395728"/>
            <a:ext cx="1207008" cy="457200"/>
          </a:xfrm>
          <a:prstGeom prst="rect">
            <a:avLst/>
          </a:prstGeom>
          <a:solidFill>
            <a:srgbClr val="9F303A"/>
          </a:solidFill>
          <a:ln w="12700">
            <a:solidFill>
              <a:srgbClr val="9F303A"/>
            </a:solidFill>
          </a:ln>
        </p:spPr>
        <p:txBody>
          <a:bodyPr wrap="square" lIns="762" tIns="762" rIns="762" bIns="762" rtlCol="0" anchor="ctr">
            <a:normAutofit/>
          </a:bodyPr>
          <a:lstStyle/>
          <a:p>
            <a:r>
              <a:rPr sz="1000" b="1"/>
              <a:t>VALIDATE</a:t>
            </a:r>
          </a:p>
        </p:txBody>
      </p:sp>
      <p:sp>
        <p:nvSpPr>
          <p:cNvPr id="21" name="Text 18"/>
          <p:cNvSpPr/>
          <p:nvPr/>
        </p:nvSpPr>
        <p:spPr>
          <a:xfrm>
            <a:off x="7379208" y="2468880"/>
            <a:ext cx="228600" cy="228600"/>
          </a:xfrm>
          <a:prstGeom prst="rect">
            <a:avLst/>
          </a:prstGeom>
          <a:noFill/>
          <a:ln/>
        </p:spPr>
        <p:txBody>
          <a:bodyPr wrap="square" lIns="762" tIns="762" rIns="762" bIns="762" rtlCol="0" anchor="ctr">
            <a:normAutofit/>
          </a:bodyPr>
          <a:lstStyle/>
          <a:p>
            <a:pPr algn="ctr" indent="0" marL="0">
              <a:buNone/>
            </a:pPr>
            <a:r>
              <a:rPr lang="en-US" sz="1800" b="1" dirty="0">
                <a:solidFill>
                  <a:srgbClr val="173242"/>
                </a:solidFill>
                <a:latin typeface="Lato" pitchFamily="34" charset="0"/>
                <a:ea typeface="Lato" pitchFamily="34" charset="-122"/>
                <a:cs typeface="Lato" pitchFamily="34" charset="-120"/>
              </a:rPr>
              <a:t>→</a:t>
            </a:r>
            <a:endParaRPr lang="en-US" sz="1800" dirty="0"/>
          </a:p>
        </p:txBody>
      </p:sp>
      <p:sp>
        <p:nvSpPr>
          <p:cNvPr id="22" name="Text 19"/>
          <p:cNvSpPr/>
          <p:nvPr/>
        </p:nvSpPr>
        <p:spPr>
          <a:xfrm>
            <a:off x="7827264" y="2395728"/>
            <a:ext cx="1207008" cy="457200"/>
          </a:xfrm>
          <a:prstGeom prst="rect">
            <a:avLst/>
          </a:prstGeom>
          <a:solidFill>
            <a:srgbClr val="176563"/>
          </a:solidFill>
          <a:ln w="12700">
            <a:solidFill>
              <a:srgbClr val="176563"/>
            </a:solidFill>
          </a:ln>
        </p:spPr>
        <p:txBody>
          <a:bodyPr wrap="square" lIns="762" tIns="762" rIns="762" bIns="762" rtlCol="0" anchor="ctr">
            <a:normAutofit/>
          </a:bodyPr>
          <a:lstStyle/>
          <a:p>
            <a:r>
              <a:rPr sz="1000" b="1"/>
              <a:t>SERVICE</a:t>
            </a:r>
          </a:p>
        </p:txBody>
      </p:sp>
      <p:sp>
        <p:nvSpPr>
          <p:cNvPr id="23" name="Text 20"/>
          <p:cNvSpPr/>
          <p:nvPr/>
        </p:nvSpPr>
        <p:spPr>
          <a:xfrm>
            <a:off x="9134856" y="2468880"/>
            <a:ext cx="228600" cy="228600"/>
          </a:xfrm>
          <a:prstGeom prst="rect">
            <a:avLst/>
          </a:prstGeom>
          <a:noFill/>
          <a:ln/>
        </p:spPr>
        <p:txBody>
          <a:bodyPr wrap="square" lIns="762" tIns="762" rIns="762" bIns="762" rtlCol="0" anchor="ctr">
            <a:normAutofit/>
          </a:bodyPr>
          <a:lstStyle/>
          <a:p>
            <a:pPr algn="ctr" indent="0" marL="0">
              <a:buNone/>
            </a:pPr>
            <a:r>
              <a:rPr lang="en-US" sz="1800" b="1" dirty="0">
                <a:solidFill>
                  <a:srgbClr val="173242"/>
                </a:solidFill>
                <a:latin typeface="Lato" pitchFamily="34" charset="0"/>
                <a:ea typeface="Lato" pitchFamily="34" charset="-122"/>
                <a:cs typeface="Lato" pitchFamily="34" charset="-120"/>
              </a:rPr>
              <a:t>→</a:t>
            </a:r>
            <a:endParaRPr lang="en-US" sz="1800" dirty="0"/>
          </a:p>
        </p:txBody>
      </p:sp>
      <p:sp>
        <p:nvSpPr>
          <p:cNvPr id="24" name="Text 21"/>
          <p:cNvSpPr/>
          <p:nvPr/>
        </p:nvSpPr>
        <p:spPr>
          <a:xfrm>
            <a:off x="9582912" y="2395728"/>
            <a:ext cx="1207008" cy="457200"/>
          </a:xfrm>
          <a:prstGeom prst="rect">
            <a:avLst/>
          </a:prstGeom>
          <a:solidFill>
            <a:srgbClr val="9F303A"/>
          </a:solidFill>
          <a:ln w="12700">
            <a:solidFill>
              <a:srgbClr val="9F303A"/>
            </a:solidFill>
          </a:ln>
        </p:spPr>
        <p:txBody>
          <a:bodyPr wrap="square" lIns="762" tIns="762" rIns="762" bIns="762" rtlCol="0" anchor="ctr">
            <a:normAutofit/>
          </a:bodyPr>
          <a:lstStyle/>
          <a:p>
            <a:r>
              <a:rPr sz="1000" b="1"/>
              <a:t>MYSQL</a:t>
            </a:r>
          </a:p>
        </p:txBody>
      </p:sp>
      <p:sp>
        <p:nvSpPr>
          <p:cNvPr id="25" name="Text 22"/>
          <p:cNvSpPr/>
          <p:nvPr/>
        </p:nvSpPr>
        <p:spPr>
          <a:xfrm>
            <a:off x="749808" y="3337560"/>
            <a:ext cx="2331720" cy="457200"/>
          </a:xfrm>
          <a:prstGeom prst="rect">
            <a:avLst/>
          </a:prstGeom>
          <a:solidFill>
            <a:srgbClr val="173242"/>
          </a:solidFill>
          <a:ln w="12700">
            <a:solidFill>
              <a:srgbClr val="879587"/>
            </a:solidFill>
          </a:ln>
        </p:spPr>
        <p:txBody>
          <a:bodyPr wrap="square" lIns="762" tIns="762" rIns="762" bIns="762" rtlCol="0" anchor="ctr">
            <a:normAutofit/>
          </a:bodyPr>
          <a:lstStyle/>
          <a:p>
            <a:r>
              <a:rPr sz="1500" b="1"/>
              <a:t>API GROUP</a:t>
            </a:r>
          </a:p>
        </p:txBody>
      </p:sp>
      <p:sp>
        <p:nvSpPr>
          <p:cNvPr id="26" name="Text 23"/>
          <p:cNvSpPr/>
          <p:nvPr/>
        </p:nvSpPr>
        <p:spPr>
          <a:xfrm>
            <a:off x="3081528" y="3337560"/>
            <a:ext cx="4005072" cy="457200"/>
          </a:xfrm>
          <a:prstGeom prst="rect">
            <a:avLst/>
          </a:prstGeom>
          <a:solidFill>
            <a:srgbClr val="173242"/>
          </a:solidFill>
          <a:ln w="12700">
            <a:solidFill>
              <a:srgbClr val="879587"/>
            </a:solidFill>
          </a:ln>
        </p:spPr>
        <p:txBody>
          <a:bodyPr wrap="square" lIns="762" tIns="762" rIns="762" bIns="762" rtlCol="0" anchor="ctr">
            <a:normAutofit/>
          </a:bodyPr>
          <a:lstStyle/>
          <a:p>
            <a:r>
              <a:rPr sz="1500" b="1"/>
              <a:t>PLANNED ROUTES</a:t>
            </a:r>
          </a:p>
        </p:txBody>
      </p:sp>
      <p:sp>
        <p:nvSpPr>
          <p:cNvPr id="27" name="Text 24"/>
          <p:cNvSpPr/>
          <p:nvPr/>
        </p:nvSpPr>
        <p:spPr>
          <a:xfrm>
            <a:off x="7086600" y="3337560"/>
            <a:ext cx="4709160" cy="457200"/>
          </a:xfrm>
          <a:prstGeom prst="rect">
            <a:avLst/>
          </a:prstGeom>
          <a:solidFill>
            <a:srgbClr val="173242"/>
          </a:solidFill>
          <a:ln w="12700">
            <a:solidFill>
              <a:srgbClr val="879587"/>
            </a:solidFill>
          </a:ln>
        </p:spPr>
        <p:txBody>
          <a:bodyPr wrap="square" lIns="762" tIns="762" rIns="762" bIns="762" rtlCol="0" anchor="ctr">
            <a:normAutofit/>
          </a:bodyPr>
          <a:lstStyle/>
          <a:p>
            <a:r>
              <a:rPr sz="1500" b="1"/>
              <a:t>PURPOSE</a:t>
            </a:r>
          </a:p>
        </p:txBody>
      </p:sp>
      <p:sp>
        <p:nvSpPr>
          <p:cNvPr id="28" name="Text 25"/>
          <p:cNvSpPr/>
          <p:nvPr/>
        </p:nvSpPr>
        <p:spPr>
          <a:xfrm>
            <a:off x="749808" y="3840480"/>
            <a:ext cx="2331720" cy="612648"/>
          </a:xfrm>
          <a:prstGeom prst="rect">
            <a:avLst/>
          </a:prstGeom>
          <a:solidFill>
            <a:srgbClr val="FAFCF0"/>
          </a:solidFill>
          <a:ln w="12700">
            <a:solidFill>
              <a:srgbClr val="879587"/>
            </a:solidFill>
          </a:ln>
        </p:spPr>
        <p:txBody>
          <a:bodyPr wrap="square" lIns="762" tIns="762" rIns="762" bIns="762" rtlCol="0" anchor="ctr">
            <a:normAutofit/>
          </a:bodyPr>
          <a:lstStyle/>
          <a:p>
            <a:r>
              <a:rPr sz="1200"/>
              <a:t>Auth / Profile</a:t>
            </a:r>
          </a:p>
        </p:txBody>
      </p:sp>
      <p:sp>
        <p:nvSpPr>
          <p:cNvPr id="29" name="Text 26"/>
          <p:cNvSpPr/>
          <p:nvPr/>
        </p:nvSpPr>
        <p:spPr>
          <a:xfrm>
            <a:off x="3081528" y="3840480"/>
            <a:ext cx="4005072" cy="612648"/>
          </a:xfrm>
          <a:prstGeom prst="rect">
            <a:avLst/>
          </a:prstGeom>
          <a:solidFill>
            <a:srgbClr val="FAFCF0"/>
          </a:solidFill>
          <a:ln w="12700">
            <a:solidFill>
              <a:srgbClr val="879587"/>
            </a:solidFill>
          </a:ln>
        </p:spPr>
        <p:txBody>
          <a:bodyPr wrap="square" lIns="762" tIns="762" rIns="762" bIns="762" rtlCol="0" anchor="ctr">
            <a:normAutofit/>
          </a:bodyPr>
          <a:lstStyle/>
          <a:p>
            <a:r>
              <a:rPr sz="1200"/>
              <a:t>POST /api/auth/register, /login; GET /api/users/me; PUT /api/users/me</a:t>
            </a:r>
          </a:p>
        </p:txBody>
      </p:sp>
      <p:sp>
        <p:nvSpPr>
          <p:cNvPr id="30" name="Text 27"/>
          <p:cNvSpPr/>
          <p:nvPr/>
        </p:nvSpPr>
        <p:spPr>
          <a:xfrm>
            <a:off x="7086600" y="3840480"/>
            <a:ext cx="4709160" cy="612648"/>
          </a:xfrm>
          <a:prstGeom prst="rect">
            <a:avLst/>
          </a:prstGeom>
          <a:solidFill>
            <a:srgbClr val="FAFCF0"/>
          </a:solidFill>
          <a:ln w="12700">
            <a:solidFill>
              <a:srgbClr val="879587"/>
            </a:solidFill>
          </a:ln>
        </p:spPr>
        <p:txBody>
          <a:bodyPr wrap="square" lIns="762" tIns="762" rIns="762" bIns="762" rtlCol="0" anchor="ctr">
            <a:normAutofit/>
          </a:bodyPr>
          <a:lstStyle/>
          <a:p>
            <a:r>
              <a:rPr sz="1200"/>
              <a:t>Create accounts; protect profile access.</a:t>
            </a:r>
          </a:p>
        </p:txBody>
      </p:sp>
      <p:sp>
        <p:nvSpPr>
          <p:cNvPr id="31" name="Text 28"/>
          <p:cNvSpPr/>
          <p:nvPr/>
        </p:nvSpPr>
        <p:spPr>
          <a:xfrm>
            <a:off x="749808" y="4462272"/>
            <a:ext cx="2331720" cy="612648"/>
          </a:xfrm>
          <a:prstGeom prst="rect">
            <a:avLst/>
          </a:prstGeom>
          <a:solidFill>
            <a:srgbClr val="E8F0D6"/>
          </a:solidFill>
          <a:ln w="12700">
            <a:solidFill>
              <a:srgbClr val="879587"/>
            </a:solidFill>
          </a:ln>
        </p:spPr>
        <p:txBody>
          <a:bodyPr wrap="square" lIns="762" tIns="762" rIns="762" bIns="762" rtlCol="0" anchor="ctr">
            <a:normAutofit/>
          </a:bodyPr>
          <a:lstStyle/>
          <a:p>
            <a:r>
              <a:rPr sz="1200"/>
              <a:t>Steps / Challenges</a:t>
            </a:r>
          </a:p>
        </p:txBody>
      </p:sp>
      <p:sp>
        <p:nvSpPr>
          <p:cNvPr id="32" name="Text 29"/>
          <p:cNvSpPr/>
          <p:nvPr/>
        </p:nvSpPr>
        <p:spPr>
          <a:xfrm>
            <a:off x="3081528" y="4462272"/>
            <a:ext cx="4005072" cy="612648"/>
          </a:xfrm>
          <a:prstGeom prst="rect">
            <a:avLst/>
          </a:prstGeom>
          <a:solidFill>
            <a:srgbClr val="E8F0D6"/>
          </a:solidFill>
          <a:ln w="12700">
            <a:solidFill>
              <a:srgbClr val="879587"/>
            </a:solidFill>
          </a:ln>
        </p:spPr>
        <p:txBody>
          <a:bodyPr wrap="square" lIns="762" tIns="762" rIns="762" bIns="762" rtlCol="0" anchor="ctr">
            <a:normAutofit/>
          </a:bodyPr>
          <a:lstStyle/>
          <a:p>
            <a:r>
              <a:rPr sz="1200"/>
              <a:t>POST/GET /api/steps; GET /api/steps/summary; POST/GET /api/challenges; POST /api/challenges/{id}/join; GET /api/challenges/{id}/leaderboard</a:t>
            </a:r>
          </a:p>
        </p:txBody>
      </p:sp>
      <p:sp>
        <p:nvSpPr>
          <p:cNvPr id="33" name="Text 30"/>
          <p:cNvSpPr/>
          <p:nvPr/>
        </p:nvSpPr>
        <p:spPr>
          <a:xfrm>
            <a:off x="7086600" y="4462272"/>
            <a:ext cx="4709160" cy="612648"/>
          </a:xfrm>
          <a:prstGeom prst="rect">
            <a:avLst/>
          </a:prstGeom>
          <a:solidFill>
            <a:srgbClr val="E8F0D6"/>
          </a:solidFill>
          <a:ln w="12700">
            <a:solidFill>
              <a:srgbClr val="879587"/>
            </a:solidFill>
          </a:ln>
        </p:spPr>
        <p:txBody>
          <a:bodyPr wrap="square" lIns="762" tIns="762" rIns="762" bIns="762" rtlCol="0" anchor="ctr">
            <a:normAutofit/>
          </a:bodyPr>
          <a:lstStyle/>
          <a:p>
            <a:r>
              <a:rPr sz="1200"/>
              <a:t>Record activity, join challenges and rank by steps.</a:t>
            </a:r>
          </a:p>
        </p:txBody>
      </p:sp>
      <p:sp>
        <p:nvSpPr>
          <p:cNvPr id="34" name="Text 31"/>
          <p:cNvSpPr/>
          <p:nvPr/>
        </p:nvSpPr>
        <p:spPr>
          <a:xfrm>
            <a:off x="749808" y="5084064"/>
            <a:ext cx="2331720" cy="612648"/>
          </a:xfrm>
          <a:prstGeom prst="rect">
            <a:avLst/>
          </a:prstGeom>
          <a:solidFill>
            <a:srgbClr val="FAFCF0"/>
          </a:solidFill>
          <a:ln w="12700">
            <a:solidFill>
              <a:srgbClr val="879587"/>
            </a:solidFill>
          </a:ln>
        </p:spPr>
        <p:txBody>
          <a:bodyPr wrap="square" lIns="762" tIns="762" rIns="762" bIns="762" rtlCol="0" anchor="ctr">
            <a:normAutofit/>
          </a:bodyPr>
          <a:lstStyle/>
          <a:p>
            <a:r>
              <a:rPr sz="1200"/>
              <a:t>Social / Rewards</a:t>
            </a:r>
          </a:p>
        </p:txBody>
      </p:sp>
      <p:sp>
        <p:nvSpPr>
          <p:cNvPr id="35" name="Text 32"/>
          <p:cNvSpPr/>
          <p:nvPr/>
        </p:nvSpPr>
        <p:spPr>
          <a:xfrm>
            <a:off x="3081528" y="5084064"/>
            <a:ext cx="4005072" cy="612648"/>
          </a:xfrm>
          <a:prstGeom prst="rect">
            <a:avLst/>
          </a:prstGeom>
          <a:solidFill>
            <a:srgbClr val="FAFCF0"/>
          </a:solidFill>
          <a:ln w="12700">
            <a:solidFill>
              <a:srgbClr val="879587"/>
            </a:solidFill>
          </a:ln>
        </p:spPr>
        <p:txBody>
          <a:bodyPr wrap="square" lIns="762" tIns="762" rIns="762" bIns="762" rtlCol="0" anchor="ctr">
            <a:normAutofit/>
          </a:bodyPr>
          <a:lstStyle/>
          <a:p>
            <a:r>
              <a:rPr sz="1200"/>
              <a:t>POST /api/friends/requests; PATCH /api/friends/requests/{id}; GET /api/rewards; POST /api/redemptions</a:t>
            </a:r>
          </a:p>
        </p:txBody>
      </p:sp>
      <p:sp>
        <p:nvSpPr>
          <p:cNvPr id="36" name="Text 33"/>
          <p:cNvSpPr/>
          <p:nvPr/>
        </p:nvSpPr>
        <p:spPr>
          <a:xfrm>
            <a:off x="7086600" y="5084064"/>
            <a:ext cx="4709160" cy="612648"/>
          </a:xfrm>
          <a:prstGeom prst="rect">
            <a:avLst/>
          </a:prstGeom>
          <a:solidFill>
            <a:srgbClr val="FAFCF0"/>
          </a:solidFill>
          <a:ln w="12700">
            <a:solidFill>
              <a:srgbClr val="879587"/>
            </a:solidFill>
          </a:ln>
        </p:spPr>
        <p:txBody>
          <a:bodyPr wrap="square" lIns="762" tIns="762" rIns="762" bIns="762" rtlCol="0" anchor="ctr">
            <a:normAutofit/>
          </a:bodyPr>
          <a:lstStyle/>
          <a:p>
            <a:r>
              <a:rPr sz="1200"/>
              <a:t>Friend links, reward catalog and redemption.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AED"/>
        </a:solidFill>
      </p:bgPr>
    </p:bg>
    <p:spTree>
      <p:nvGrpSpPr>
        <p:cNvPr id="1" name=""/>
        <p:cNvGrpSpPr/>
        <p:nvPr/>
      </p:nvGrpSpPr>
      <p:grpSpPr>
        <a:xfrm>
          <a:off x="0" y="0"/>
          <a:ext cx="0" cy="0"/>
          <a:chOff x="0" y="0"/>
          <a:chExt cx="0" cy="0"/>
        </a:xfrm>
      </p:grpSpPr>
      <p:sp>
        <p:nvSpPr>
          <p:cNvPr id="2" name="Shape 0"/>
          <p:cNvSpPr/>
          <p:nvPr/>
        </p:nvSpPr>
        <p:spPr>
          <a:xfrm>
            <a:off x="384048" y="91440"/>
            <a:ext cx="11430000" cy="6583680"/>
          </a:xfrm>
          <a:prstGeom prst="rect">
            <a:avLst/>
          </a:prstGeom>
          <a:solidFill>
            <a:srgbClr val="F7FAED">
              <a:alpha val="0"/>
            </a:srgbClr>
          </a:solidFill>
          <a:ln w="12700">
            <a:solidFill>
              <a:srgbClr val="CBD6BB"/>
            </a:solidFill>
            <a:prstDash val="solid"/>
          </a:ln>
        </p:spPr>
      </p:sp>
      <p:pic>
        <p:nvPicPr>
          <p:cNvPr id="3" name="Image 0" descr="/mnt/data/mlppt_unzip/ppt/media/image1.png">    </p:cNvPr>
          <p:cNvPicPr>
            <a:picLocks noChangeAspect="1"/>
          </p:cNvPicPr>
          <p:nvPr/>
        </p:nvPicPr>
        <p:blipFill>
          <a:blip r:embed="rId1"/>
          <a:stretch>
            <a:fillRect/>
          </a:stretch>
        </p:blipFill>
        <p:spPr>
          <a:xfrm>
            <a:off x="658368" y="173736"/>
            <a:ext cx="1243584" cy="457200"/>
          </a:xfrm>
          <a:prstGeom prst="rect">
            <a:avLst/>
          </a:prstGeom>
        </p:spPr>
      </p:pic>
      <p:sp>
        <p:nvSpPr>
          <p:cNvPr id="4" name="Text 1"/>
          <p:cNvSpPr/>
          <p:nvPr/>
        </p:nvSpPr>
        <p:spPr>
          <a:xfrm>
            <a:off x="2039112" y="164592"/>
            <a:ext cx="6858000" cy="438912"/>
          </a:xfrm>
          <a:prstGeom prst="rect">
            <a:avLst/>
          </a:prstGeom>
          <a:noFill/>
          <a:ln/>
        </p:spPr>
        <p:txBody>
          <a:bodyPr wrap="square" lIns="762" tIns="762" rIns="762" bIns="762" rtlCol="0" anchor="ctr">
            <a:normAutofit/>
          </a:bodyPr>
          <a:lstStyle/>
          <a:p>
            <a:pPr algn="l" indent="0" marL="0">
              <a:buNone/>
            </a:pPr>
            <a:r>
              <a:rPr lang="en-US" sz="2300" b="1" dirty="0">
                <a:solidFill>
                  <a:srgbClr val="173242"/>
                </a:solidFill>
                <a:latin typeface="Lato" pitchFamily="34" charset="0"/>
                <a:ea typeface="Lato" pitchFamily="34" charset="-122"/>
                <a:cs typeface="Lato" pitchFamily="34" charset="-120"/>
              </a:rPr>
              <a:t>FITNESS CHALLENGE APP</a:t>
            </a:r>
            <a:endParaRPr lang="en-US" sz="2300" dirty="0"/>
          </a:p>
        </p:txBody>
      </p:sp>
      <p:sp>
        <p:nvSpPr>
          <p:cNvPr id="5" name="Shape 2"/>
          <p:cNvSpPr/>
          <p:nvPr/>
        </p:nvSpPr>
        <p:spPr>
          <a:xfrm>
            <a:off x="384048" y="758952"/>
            <a:ext cx="11430000" cy="0"/>
          </a:xfrm>
          <a:prstGeom prst="line">
            <a:avLst/>
          </a:prstGeom>
          <a:noFill/>
          <a:ln w="11430">
            <a:solidFill>
              <a:srgbClr val="173242"/>
            </a:solidFill>
            <a:prstDash val="solid"/>
          </a:ln>
        </p:spPr>
      </p:sp>
      <p:sp>
        <p:nvSpPr>
          <p:cNvPr id="6" name="Text 3"/>
          <p:cNvSpPr/>
          <p:nvPr/>
        </p:nvSpPr>
        <p:spPr>
          <a:xfrm>
            <a:off x="9189720" y="859536"/>
            <a:ext cx="2176272" cy="164592"/>
          </a:xfrm>
          <a:prstGeom prst="rect">
            <a:avLst/>
          </a:prstGeom>
          <a:noFill/>
          <a:ln/>
        </p:spPr>
        <p:txBody>
          <a:bodyPr wrap="square" lIns="762" tIns="762" rIns="762" bIns="762" rtlCol="0" anchor="ctr">
            <a:normAutofit/>
          </a:bodyPr>
          <a:lstStyle/>
          <a:p>
            <a:pPr algn="r" indent="0" marL="0">
              <a:buNone/>
            </a:pPr>
            <a:r>
              <a:rPr lang="en-US" sz="780" dirty="0">
                <a:solidFill>
                  <a:srgbClr val="173242"/>
                </a:solidFill>
                <a:latin typeface="Lato" pitchFamily="34" charset="0"/>
                <a:ea typeface="Lato" pitchFamily="34" charset="-122"/>
                <a:cs typeface="Lato" pitchFamily="34" charset="-120"/>
              </a:rPr>
              <a:t>REVIEW 2 | CSE | SECTION 04 | TEAM 10</a:t>
            </a:r>
            <a:endParaRPr lang="en-US" sz="780" dirty="0"/>
          </a:p>
        </p:txBody>
      </p:sp>
      <p:sp>
        <p:nvSpPr>
          <p:cNvPr id="7" name="Shape 4"/>
          <p:cNvSpPr/>
          <p:nvPr/>
        </p:nvSpPr>
        <p:spPr>
          <a:xfrm>
            <a:off x="384048" y="1069848"/>
            <a:ext cx="11430000" cy="0"/>
          </a:xfrm>
          <a:prstGeom prst="line">
            <a:avLst/>
          </a:prstGeom>
          <a:noFill/>
          <a:ln w="11430">
            <a:solidFill>
              <a:srgbClr val="173242"/>
            </a:solidFill>
            <a:prstDash val="solid"/>
          </a:ln>
        </p:spPr>
      </p:sp>
      <p:sp>
        <p:nvSpPr>
          <p:cNvPr id="8" name="Shape 5"/>
          <p:cNvSpPr/>
          <p:nvPr/>
        </p:nvSpPr>
        <p:spPr>
          <a:xfrm>
            <a:off x="384048" y="6053328"/>
            <a:ext cx="11430000" cy="0"/>
          </a:xfrm>
          <a:prstGeom prst="line">
            <a:avLst/>
          </a:prstGeom>
          <a:noFill/>
          <a:ln w="11430">
            <a:solidFill>
              <a:srgbClr val="173242"/>
            </a:solidFill>
            <a:prstDash val="solid"/>
          </a:ln>
        </p:spPr>
      </p:sp>
      <p:sp>
        <p:nvSpPr>
          <p:cNvPr id="9" name="Text 6"/>
          <p:cNvSpPr/>
          <p:nvPr/>
        </p:nvSpPr>
        <p:spPr>
          <a:xfrm>
            <a:off x="713232" y="6172200"/>
            <a:ext cx="8138160" cy="164592"/>
          </a:xfrm>
          <a:prstGeom prst="rect">
            <a:avLst/>
          </a:prstGeom>
          <a:noFill/>
          <a:ln/>
        </p:spPr>
        <p:txBody>
          <a:bodyPr wrap="square" lIns="762" tIns="762" rIns="762" bIns="762" rtlCol="0" anchor="ctr">
            <a:normAutofit/>
          </a:bodyPr>
          <a:lstStyle/>
          <a:p>
            <a:r>
              <a:rPr sz="800"/>
              <a:t>FITNESS CHALLENGE APP WITH STEP GAMIFICATION</a:t>
            </a:r>
          </a:p>
        </p:txBody>
      </p:sp>
      <p:sp>
        <p:nvSpPr>
          <p:cNvPr id="10" name="Text 7"/>
          <p:cNvSpPr/>
          <p:nvPr/>
        </p:nvSpPr>
        <p:spPr>
          <a:xfrm>
            <a:off x="10241280" y="6172200"/>
            <a:ext cx="1143000" cy="164592"/>
          </a:xfrm>
          <a:prstGeom prst="rect">
            <a:avLst/>
          </a:prstGeom>
          <a:noFill/>
          <a:ln/>
        </p:spPr>
        <p:txBody>
          <a:bodyPr wrap="square" lIns="762" tIns="762" rIns="762" bIns="762" rtlCol="0" anchor="ctr">
            <a:normAutofit/>
          </a:bodyPr>
          <a:lstStyle/>
          <a:p>
            <a:pPr algn="r" indent="0" marL="0">
              <a:buNone/>
            </a:pPr>
            <a:r>
              <a:rPr lang="en-US" sz="690" dirty="0">
                <a:solidFill>
                  <a:srgbClr val="173242"/>
                </a:solidFill>
                <a:latin typeface="Lato" pitchFamily="34" charset="0"/>
                <a:ea typeface="Lato" pitchFamily="34" charset="-122"/>
                <a:cs typeface="Lato" pitchFamily="34" charset="-120"/>
              </a:rPr>
              <a:t>A.Y. 2025–26</a:t>
            </a:r>
            <a:endParaRPr lang="en-US" sz="690" dirty="0"/>
          </a:p>
        </p:txBody>
      </p:sp>
      <p:sp>
        <p:nvSpPr>
          <p:cNvPr id="11" name="Shape 8"/>
          <p:cNvSpPr/>
          <p:nvPr/>
        </p:nvSpPr>
        <p:spPr>
          <a:xfrm>
            <a:off x="384048" y="6364224"/>
            <a:ext cx="11430000" cy="0"/>
          </a:xfrm>
          <a:prstGeom prst="line">
            <a:avLst/>
          </a:prstGeom>
          <a:noFill/>
          <a:ln w="11430">
            <a:solidFill>
              <a:srgbClr val="173242"/>
            </a:solidFill>
            <a:prstDash val="solid"/>
          </a:ln>
        </p:spPr>
      </p:sp>
      <p:sp>
        <p:nvSpPr>
          <p:cNvPr id="12" name="Text 9"/>
          <p:cNvSpPr/>
          <p:nvPr/>
        </p:nvSpPr>
        <p:spPr>
          <a:xfrm>
            <a:off x="749808" y="1325880"/>
            <a:ext cx="2944368" cy="512064"/>
          </a:xfrm>
          <a:prstGeom prst="rect">
            <a:avLst/>
          </a:prstGeom>
          <a:solidFill>
            <a:srgbClr val="173242"/>
          </a:solidFill>
          <a:ln w="12700">
            <a:solidFill>
              <a:srgbClr val="879587"/>
            </a:solidFill>
          </a:ln>
        </p:spPr>
        <p:txBody>
          <a:bodyPr wrap="square" lIns="762" tIns="762" rIns="762" bIns="762" rtlCol="0" anchor="ctr">
            <a:normAutofit/>
          </a:bodyPr>
          <a:lstStyle/>
          <a:p>
            <a:r>
              <a:rPr sz="1800" b="1"/>
              <a:t>TECHNOLOGY &amp; TESTING</a:t>
            </a:r>
          </a:p>
        </p:txBody>
      </p:sp>
      <p:sp>
        <p:nvSpPr>
          <p:cNvPr id="13" name="Text 10"/>
          <p:cNvSpPr/>
          <p:nvPr/>
        </p:nvSpPr>
        <p:spPr>
          <a:xfrm>
            <a:off x="3694176" y="1325880"/>
            <a:ext cx="7607808" cy="512064"/>
          </a:xfrm>
          <a:prstGeom prst="rect">
            <a:avLst/>
          </a:prstGeom>
          <a:solidFill>
            <a:srgbClr val="173242"/>
          </a:solidFill>
          <a:ln w="12700">
            <a:solidFill>
              <a:srgbClr val="879587"/>
            </a:solidFill>
          </a:ln>
        </p:spPr>
        <p:txBody>
          <a:bodyPr wrap="square" lIns="762" tIns="762" rIns="762" bIns="762" rtlCol="0" anchor="ctr">
            <a:normAutofit/>
          </a:bodyPr>
          <a:lstStyle/>
          <a:p>
            <a:r>
              <a:rPr sz="1800" b="1"/>
              <a:t>SPECIFICATION / REVIEW STATUS</a:t>
            </a:r>
          </a:p>
        </p:txBody>
      </p:sp>
      <p:sp>
        <p:nvSpPr>
          <p:cNvPr id="14" name="Text 11"/>
          <p:cNvSpPr/>
          <p:nvPr/>
        </p:nvSpPr>
        <p:spPr>
          <a:xfrm>
            <a:off x="749808" y="1837944"/>
            <a:ext cx="2944368" cy="749808"/>
          </a:xfrm>
          <a:prstGeom prst="rect">
            <a:avLst/>
          </a:prstGeom>
          <a:solidFill>
            <a:srgbClr val="FAFCF0"/>
          </a:solidFill>
          <a:ln w="12700">
            <a:solidFill>
              <a:srgbClr val="879587"/>
            </a:solidFill>
          </a:ln>
        </p:spPr>
        <p:txBody>
          <a:bodyPr wrap="square" lIns="762" tIns="762" rIns="762" bIns="762" rtlCol="0" anchor="ctr">
            <a:normAutofit/>
          </a:bodyPr>
          <a:lstStyle/>
          <a:p>
            <a:r>
              <a:rPr sz="1500" b="1"/>
              <a:t>Backend</a:t>
            </a:r>
          </a:p>
        </p:txBody>
      </p:sp>
      <p:sp>
        <p:nvSpPr>
          <p:cNvPr id="15" name="Text 12"/>
          <p:cNvSpPr/>
          <p:nvPr/>
        </p:nvSpPr>
        <p:spPr>
          <a:xfrm>
            <a:off x="3694176" y="1837944"/>
            <a:ext cx="7607808" cy="749808"/>
          </a:xfrm>
          <a:prstGeom prst="rect">
            <a:avLst/>
          </a:prstGeom>
          <a:solidFill>
            <a:srgbClr val="FAFCF0"/>
          </a:solidFill>
          <a:ln w="12700">
            <a:solidFill>
              <a:srgbClr val="879587"/>
            </a:solidFill>
          </a:ln>
        </p:spPr>
        <p:txBody>
          <a:bodyPr wrap="square" lIns="762" tIns="762" rIns="762" bIns="762" rtlCol="0" anchor="ctr">
            <a:normAutofit/>
          </a:bodyPr>
          <a:lstStyle/>
          <a:p>
            <a:r>
              <a:rPr sz="1400"/>
              <a:t>Java + Spring Boot REST service; JWT-based authentication and access checks are specified.</a:t>
            </a:r>
          </a:p>
        </p:txBody>
      </p:sp>
      <p:sp>
        <p:nvSpPr>
          <p:cNvPr id="16" name="Text 13"/>
          <p:cNvSpPr/>
          <p:nvPr/>
        </p:nvSpPr>
        <p:spPr>
          <a:xfrm>
            <a:off x="749808" y="2587752"/>
            <a:ext cx="2944368" cy="749808"/>
          </a:xfrm>
          <a:prstGeom prst="rect">
            <a:avLst/>
          </a:prstGeom>
          <a:solidFill>
            <a:srgbClr val="E8F0D6"/>
          </a:solidFill>
          <a:ln w="12700">
            <a:solidFill>
              <a:srgbClr val="879587"/>
            </a:solidFill>
          </a:ln>
        </p:spPr>
        <p:txBody>
          <a:bodyPr wrap="square" lIns="762" tIns="762" rIns="762" bIns="762" rtlCol="0" anchor="ctr">
            <a:normAutofit/>
          </a:bodyPr>
          <a:lstStyle/>
          <a:p>
            <a:r>
              <a:rPr sz="1500" b="1"/>
              <a:t>Database</a:t>
            </a:r>
          </a:p>
        </p:txBody>
      </p:sp>
      <p:sp>
        <p:nvSpPr>
          <p:cNvPr id="17" name="Text 14"/>
          <p:cNvSpPr/>
          <p:nvPr/>
        </p:nvSpPr>
        <p:spPr>
          <a:xfrm>
            <a:off x="3694176" y="2587752"/>
            <a:ext cx="7607808" cy="749808"/>
          </a:xfrm>
          <a:prstGeom prst="rect">
            <a:avLst/>
          </a:prstGeom>
          <a:solidFill>
            <a:srgbClr val="E8F0D6"/>
          </a:solidFill>
          <a:ln w="12700">
            <a:solidFill>
              <a:srgbClr val="879587"/>
            </a:solidFill>
          </a:ln>
        </p:spPr>
        <p:txBody>
          <a:bodyPr wrap="square" lIns="762" tIns="762" rIns="762" bIns="762" rtlCol="0" anchor="ctr">
            <a:normAutofit/>
          </a:bodyPr>
          <a:lstStyle/>
          <a:p>
            <a:r>
              <a:rPr sz="1400"/>
              <a:t>MySQL relational model; no database export or migration evidence was supplied.</a:t>
            </a:r>
          </a:p>
        </p:txBody>
      </p:sp>
      <p:sp>
        <p:nvSpPr>
          <p:cNvPr id="18" name="Text 15"/>
          <p:cNvSpPr/>
          <p:nvPr/>
        </p:nvSpPr>
        <p:spPr>
          <a:xfrm>
            <a:off x="749808" y="3337560"/>
            <a:ext cx="2944368" cy="749808"/>
          </a:xfrm>
          <a:prstGeom prst="rect">
            <a:avLst/>
          </a:prstGeom>
          <a:solidFill>
            <a:srgbClr val="FAFCF0"/>
          </a:solidFill>
          <a:ln w="12700">
            <a:solidFill>
              <a:srgbClr val="879587"/>
            </a:solidFill>
          </a:ln>
        </p:spPr>
        <p:txBody>
          <a:bodyPr wrap="square" lIns="762" tIns="762" rIns="762" bIns="762" rtlCol="0" anchor="ctr">
            <a:normAutofit/>
          </a:bodyPr>
          <a:lstStyle/>
          <a:p>
            <a:r>
              <a:rPr sz="1500" b="1"/>
              <a:t>Android client</a:t>
            </a:r>
          </a:p>
        </p:txBody>
      </p:sp>
      <p:sp>
        <p:nvSpPr>
          <p:cNvPr id="19" name="Text 16"/>
          <p:cNvSpPr/>
          <p:nvPr/>
        </p:nvSpPr>
        <p:spPr>
          <a:xfrm>
            <a:off x="3694176" y="3337560"/>
            <a:ext cx="7607808" cy="749808"/>
          </a:xfrm>
          <a:prstGeom prst="rect">
            <a:avLst/>
          </a:prstGeom>
          <a:solidFill>
            <a:srgbClr val="FAFCF0"/>
          </a:solidFill>
          <a:ln w="12700">
            <a:solidFill>
              <a:srgbClr val="879587"/>
            </a:solidFill>
          </a:ln>
        </p:spPr>
        <p:txBody>
          <a:bodyPr wrap="square" lIns="762" tIns="762" rIns="762" bIns="762" rtlCol="0" anchor="ctr">
            <a:normAutofit/>
          </a:bodyPr>
          <a:lstStyle/>
          <a:p>
            <a:r>
              <a:rPr sz="1400"/>
              <a:t>Kotlin client sends JSON; step synchronization and service integration require demonstration.</a:t>
            </a:r>
          </a:p>
        </p:txBody>
      </p:sp>
      <p:sp>
        <p:nvSpPr>
          <p:cNvPr id="20" name="Text 17"/>
          <p:cNvSpPr/>
          <p:nvPr/>
        </p:nvSpPr>
        <p:spPr>
          <a:xfrm>
            <a:off x="749808" y="4087368"/>
            <a:ext cx="2944368" cy="749808"/>
          </a:xfrm>
          <a:prstGeom prst="rect">
            <a:avLst/>
          </a:prstGeom>
          <a:solidFill>
            <a:srgbClr val="E8F0D6"/>
          </a:solidFill>
          <a:ln w="12700">
            <a:solidFill>
              <a:srgbClr val="879587"/>
            </a:solidFill>
          </a:ln>
        </p:spPr>
        <p:txBody>
          <a:bodyPr wrap="square" lIns="762" tIns="762" rIns="762" bIns="762" rtlCol="0" anchor="ctr">
            <a:normAutofit/>
          </a:bodyPr>
          <a:lstStyle/>
          <a:p>
            <a:r>
              <a:rPr sz="1500" b="1"/>
              <a:t>Postman plan</a:t>
            </a:r>
          </a:p>
        </p:txBody>
      </p:sp>
      <p:sp>
        <p:nvSpPr>
          <p:cNvPr id="21" name="Text 18"/>
          <p:cNvSpPr/>
          <p:nvPr/>
        </p:nvSpPr>
        <p:spPr>
          <a:xfrm>
            <a:off x="3694176" y="4087368"/>
            <a:ext cx="7607808" cy="749808"/>
          </a:xfrm>
          <a:prstGeom prst="rect">
            <a:avLst/>
          </a:prstGeom>
          <a:solidFill>
            <a:srgbClr val="E8F0D6"/>
          </a:solidFill>
          <a:ln w="12700">
            <a:solidFill>
              <a:srgbClr val="879587"/>
            </a:solidFill>
          </a:ln>
        </p:spPr>
        <p:txBody>
          <a:bodyPr wrap="square" lIns="762" tIns="762" rIns="762" bIns="762" rtlCol="0" anchor="ctr">
            <a:normAutofit/>
          </a:bodyPr>
          <a:lstStyle/>
          <a:p>
            <a:r>
              <a:rPr sz="1400"/>
              <a:t>Planned cases: login, invalid input, ownership, steps, challenge join, leaderboard and redemption.</a:t>
            </a:r>
          </a:p>
        </p:txBody>
      </p:sp>
      <p:sp>
        <p:nvSpPr>
          <p:cNvPr id="22" name="Text 19"/>
          <p:cNvSpPr/>
          <p:nvPr/>
        </p:nvSpPr>
        <p:spPr>
          <a:xfrm>
            <a:off x="749808" y="4837176"/>
            <a:ext cx="2944368" cy="749808"/>
          </a:xfrm>
          <a:prstGeom prst="rect">
            <a:avLst/>
          </a:prstGeom>
          <a:solidFill>
            <a:srgbClr val="FAFCF0"/>
          </a:solidFill>
          <a:ln w="12700">
            <a:solidFill>
              <a:srgbClr val="879587"/>
            </a:solidFill>
          </a:ln>
        </p:spPr>
        <p:txBody>
          <a:bodyPr wrap="square" lIns="762" tIns="762" rIns="762" bIns="762" rtlCol="0" anchor="ctr">
            <a:normAutofit/>
          </a:bodyPr>
          <a:lstStyle/>
          <a:p>
            <a:r>
              <a:rPr sz="1500" b="1"/>
              <a:t>Implementation status</a:t>
            </a:r>
          </a:p>
        </p:txBody>
      </p:sp>
      <p:sp>
        <p:nvSpPr>
          <p:cNvPr id="23" name="Text 20"/>
          <p:cNvSpPr/>
          <p:nvPr/>
        </p:nvSpPr>
        <p:spPr>
          <a:xfrm>
            <a:off x="3694176" y="4837176"/>
            <a:ext cx="7607808" cy="749808"/>
          </a:xfrm>
          <a:prstGeom prst="rect">
            <a:avLst/>
          </a:prstGeom>
          <a:solidFill>
            <a:srgbClr val="FAFCF0"/>
          </a:solidFill>
          <a:ln w="12700">
            <a:solidFill>
              <a:srgbClr val="879587"/>
            </a:solidFill>
          </a:ln>
        </p:spPr>
        <p:txBody>
          <a:bodyPr wrap="square" lIns="762" tIns="762" rIns="762" bIns="762" rtlCol="0" anchor="ctr">
            <a:normAutofit/>
          </a:bodyPr>
          <a:lstStyle/>
          <a:p>
            <a:r>
              <a:rPr sz="1400"/>
              <a:t>No source repository, app build, Postman collection or execution results were supplied; completion is unverified.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AED"/>
        </a:solidFill>
      </p:bgPr>
    </p:bg>
    <p:spTree>
      <p:nvGrpSpPr>
        <p:cNvPr id="1" name=""/>
        <p:cNvGrpSpPr/>
        <p:nvPr/>
      </p:nvGrpSpPr>
      <p:grpSpPr>
        <a:xfrm>
          <a:off x="0" y="0"/>
          <a:ext cx="0" cy="0"/>
          <a:chOff x="0" y="0"/>
          <a:chExt cx="0" cy="0"/>
        </a:xfrm>
      </p:grpSpPr>
      <p:sp>
        <p:nvSpPr>
          <p:cNvPr id="2" name="Shape 0"/>
          <p:cNvSpPr/>
          <p:nvPr/>
        </p:nvSpPr>
        <p:spPr>
          <a:xfrm>
            <a:off x="384048" y="91440"/>
            <a:ext cx="11430000" cy="6583680"/>
          </a:xfrm>
          <a:prstGeom prst="rect">
            <a:avLst/>
          </a:prstGeom>
          <a:solidFill>
            <a:srgbClr val="F7FAED">
              <a:alpha val="0"/>
            </a:srgbClr>
          </a:solidFill>
          <a:ln w="12700">
            <a:solidFill>
              <a:srgbClr val="CBD6BB"/>
            </a:solidFill>
            <a:prstDash val="solid"/>
          </a:ln>
        </p:spPr>
      </p:sp>
      <p:pic>
        <p:nvPicPr>
          <p:cNvPr id="3" name="Image 0" descr="/mnt/data/mlppt_unzip/ppt/media/image1.png">    </p:cNvPr>
          <p:cNvPicPr>
            <a:picLocks noChangeAspect="1"/>
          </p:cNvPicPr>
          <p:nvPr/>
        </p:nvPicPr>
        <p:blipFill>
          <a:blip r:embed="rId1"/>
          <a:stretch>
            <a:fillRect/>
          </a:stretch>
        </p:blipFill>
        <p:spPr>
          <a:xfrm>
            <a:off x="658368" y="173736"/>
            <a:ext cx="1243584" cy="457200"/>
          </a:xfrm>
          <a:prstGeom prst="rect">
            <a:avLst/>
          </a:prstGeom>
        </p:spPr>
      </p:pic>
      <p:sp>
        <p:nvSpPr>
          <p:cNvPr id="4" name="Text 1"/>
          <p:cNvSpPr/>
          <p:nvPr/>
        </p:nvSpPr>
        <p:spPr>
          <a:xfrm>
            <a:off x="2039112" y="164592"/>
            <a:ext cx="6858000" cy="438912"/>
          </a:xfrm>
          <a:prstGeom prst="rect">
            <a:avLst/>
          </a:prstGeom>
          <a:noFill/>
          <a:ln/>
        </p:spPr>
        <p:txBody>
          <a:bodyPr wrap="square" lIns="762" tIns="762" rIns="762" bIns="762" rtlCol="0" anchor="ctr">
            <a:normAutofit/>
          </a:bodyPr>
          <a:lstStyle/>
          <a:p>
            <a:pPr algn="l" indent="0" marL="0">
              <a:buNone/>
            </a:pPr>
            <a:r>
              <a:rPr lang="en-US" sz="2300" b="1" dirty="0">
                <a:solidFill>
                  <a:srgbClr val="173242"/>
                </a:solidFill>
                <a:latin typeface="Lato" pitchFamily="34" charset="0"/>
                <a:ea typeface="Lato" pitchFamily="34" charset="-122"/>
                <a:cs typeface="Lato" pitchFamily="34" charset="-120"/>
              </a:rPr>
              <a:t>FITNESS CHALLENGE APP</a:t>
            </a:r>
            <a:endParaRPr lang="en-US" sz="2300" dirty="0"/>
          </a:p>
        </p:txBody>
      </p:sp>
      <p:sp>
        <p:nvSpPr>
          <p:cNvPr id="5" name="Shape 2"/>
          <p:cNvSpPr/>
          <p:nvPr/>
        </p:nvSpPr>
        <p:spPr>
          <a:xfrm>
            <a:off x="384048" y="758952"/>
            <a:ext cx="11430000" cy="0"/>
          </a:xfrm>
          <a:prstGeom prst="line">
            <a:avLst/>
          </a:prstGeom>
          <a:noFill/>
          <a:ln w="11430">
            <a:solidFill>
              <a:srgbClr val="173242"/>
            </a:solidFill>
            <a:prstDash val="solid"/>
          </a:ln>
        </p:spPr>
      </p:sp>
      <p:sp>
        <p:nvSpPr>
          <p:cNvPr id="6" name="Text 3"/>
          <p:cNvSpPr/>
          <p:nvPr/>
        </p:nvSpPr>
        <p:spPr>
          <a:xfrm>
            <a:off x="9189720" y="859536"/>
            <a:ext cx="2176272" cy="164592"/>
          </a:xfrm>
          <a:prstGeom prst="rect">
            <a:avLst/>
          </a:prstGeom>
          <a:noFill/>
          <a:ln/>
        </p:spPr>
        <p:txBody>
          <a:bodyPr wrap="square" lIns="762" tIns="762" rIns="762" bIns="762" rtlCol="0" anchor="ctr">
            <a:normAutofit/>
          </a:bodyPr>
          <a:lstStyle/>
          <a:p>
            <a:pPr algn="r" indent="0" marL="0">
              <a:buNone/>
            </a:pPr>
            <a:r>
              <a:rPr lang="en-US" sz="780" dirty="0">
                <a:solidFill>
                  <a:srgbClr val="173242"/>
                </a:solidFill>
                <a:latin typeface="Lato" pitchFamily="34" charset="0"/>
                <a:ea typeface="Lato" pitchFamily="34" charset="-122"/>
                <a:cs typeface="Lato" pitchFamily="34" charset="-120"/>
              </a:rPr>
              <a:t>REVIEW 2 | CSE | SECTION 04 | TEAM 10</a:t>
            </a:r>
            <a:endParaRPr lang="en-US" sz="780" dirty="0"/>
          </a:p>
        </p:txBody>
      </p:sp>
      <p:sp>
        <p:nvSpPr>
          <p:cNvPr id="7" name="Shape 4"/>
          <p:cNvSpPr/>
          <p:nvPr/>
        </p:nvSpPr>
        <p:spPr>
          <a:xfrm>
            <a:off x="384048" y="1069848"/>
            <a:ext cx="11430000" cy="0"/>
          </a:xfrm>
          <a:prstGeom prst="line">
            <a:avLst/>
          </a:prstGeom>
          <a:noFill/>
          <a:ln w="11430">
            <a:solidFill>
              <a:srgbClr val="173242"/>
            </a:solidFill>
            <a:prstDash val="solid"/>
          </a:ln>
        </p:spPr>
      </p:sp>
      <p:sp>
        <p:nvSpPr>
          <p:cNvPr id="8" name="Shape 5"/>
          <p:cNvSpPr/>
          <p:nvPr/>
        </p:nvSpPr>
        <p:spPr>
          <a:xfrm>
            <a:off x="384048" y="6053328"/>
            <a:ext cx="11430000" cy="0"/>
          </a:xfrm>
          <a:prstGeom prst="line">
            <a:avLst/>
          </a:prstGeom>
          <a:noFill/>
          <a:ln w="11430">
            <a:solidFill>
              <a:srgbClr val="173242"/>
            </a:solidFill>
            <a:prstDash val="solid"/>
          </a:ln>
        </p:spPr>
      </p:sp>
      <p:sp>
        <p:nvSpPr>
          <p:cNvPr id="9" name="Text 6"/>
          <p:cNvSpPr/>
          <p:nvPr/>
        </p:nvSpPr>
        <p:spPr>
          <a:xfrm>
            <a:off x="713232" y="6172200"/>
            <a:ext cx="8138160" cy="164592"/>
          </a:xfrm>
          <a:prstGeom prst="rect">
            <a:avLst/>
          </a:prstGeom>
          <a:noFill/>
          <a:ln/>
        </p:spPr>
        <p:txBody>
          <a:bodyPr wrap="square" lIns="762" tIns="762" rIns="762" bIns="762" rtlCol="0" anchor="ctr">
            <a:normAutofit/>
          </a:bodyPr>
          <a:lstStyle/>
          <a:p>
            <a:r>
              <a:rPr sz="800"/>
              <a:t>FITNESS CHALLENGE APP WITH STEP GAMIFICATION</a:t>
            </a:r>
          </a:p>
        </p:txBody>
      </p:sp>
      <p:sp>
        <p:nvSpPr>
          <p:cNvPr id="10" name="Text 7"/>
          <p:cNvSpPr/>
          <p:nvPr/>
        </p:nvSpPr>
        <p:spPr>
          <a:xfrm>
            <a:off x="10241280" y="6172200"/>
            <a:ext cx="1143000" cy="164592"/>
          </a:xfrm>
          <a:prstGeom prst="rect">
            <a:avLst/>
          </a:prstGeom>
          <a:noFill/>
          <a:ln/>
        </p:spPr>
        <p:txBody>
          <a:bodyPr wrap="square" lIns="762" tIns="762" rIns="762" bIns="762" rtlCol="0" anchor="ctr">
            <a:normAutofit/>
          </a:bodyPr>
          <a:lstStyle/>
          <a:p>
            <a:pPr algn="r" indent="0" marL="0">
              <a:buNone/>
            </a:pPr>
            <a:r>
              <a:rPr lang="en-US" sz="690" dirty="0">
                <a:solidFill>
                  <a:srgbClr val="173242"/>
                </a:solidFill>
                <a:latin typeface="Lato" pitchFamily="34" charset="0"/>
                <a:ea typeface="Lato" pitchFamily="34" charset="-122"/>
                <a:cs typeface="Lato" pitchFamily="34" charset="-120"/>
              </a:rPr>
              <a:t>A.Y. 2025–26</a:t>
            </a:r>
            <a:endParaRPr lang="en-US" sz="690" dirty="0"/>
          </a:p>
        </p:txBody>
      </p:sp>
      <p:sp>
        <p:nvSpPr>
          <p:cNvPr id="11" name="Shape 8"/>
          <p:cNvSpPr/>
          <p:nvPr/>
        </p:nvSpPr>
        <p:spPr>
          <a:xfrm>
            <a:off x="384048" y="6364224"/>
            <a:ext cx="11430000" cy="0"/>
          </a:xfrm>
          <a:prstGeom prst="line">
            <a:avLst/>
          </a:prstGeom>
          <a:noFill/>
          <a:ln w="11430">
            <a:solidFill>
              <a:srgbClr val="173242"/>
            </a:solidFill>
            <a:prstDash val="solid"/>
          </a:ln>
        </p:spPr>
      </p:sp>
      <p:sp>
        <p:nvSpPr>
          <p:cNvPr id="12" name="Text 9"/>
          <p:cNvSpPr/>
          <p:nvPr/>
        </p:nvSpPr>
        <p:spPr>
          <a:xfrm>
            <a:off x="868680" y="1243584"/>
            <a:ext cx="4754880" cy="621792"/>
          </a:xfrm>
          <a:prstGeom prst="rect">
            <a:avLst/>
          </a:prstGeom>
          <a:noFill/>
          <a:ln/>
        </p:spPr>
        <p:txBody>
          <a:bodyPr wrap="square" lIns="762" tIns="762" rIns="762" bIns="762" rtlCol="0" anchor="ctr">
            <a:normAutofit/>
          </a:bodyPr>
          <a:lstStyle/>
          <a:p>
            <a:r>
              <a:rPr sz="3000" b="1"/>
              <a:t>REVIEW 2</a:t>
            </a:r>
          </a:p>
        </p:txBody>
      </p:sp>
      <p:sp>
        <p:nvSpPr>
          <p:cNvPr id="13" name="Text 10"/>
          <p:cNvSpPr/>
          <p:nvPr/>
        </p:nvSpPr>
        <p:spPr>
          <a:xfrm>
            <a:off x="868680" y="2057400"/>
            <a:ext cx="10378440" cy="1234440"/>
          </a:xfrm>
          <a:prstGeom prst="rect">
            <a:avLst/>
          </a:prstGeom>
          <a:solidFill>
            <a:srgbClr val="EEF4DD"/>
          </a:solidFill>
          <a:ln w="12700">
            <a:solidFill>
              <a:srgbClr val="173242"/>
            </a:solidFill>
          </a:ln>
        </p:spPr>
        <p:txBody>
          <a:bodyPr wrap="square" lIns="762" tIns="762" rIns="762" bIns="762" rtlCol="0" anchor="ctr">
            <a:normAutofit/>
          </a:bodyPr>
          <a:lstStyle/>
          <a:p>
            <a:r>
              <a:rPr sz="1800"/>
              <a:t>This review defines the backend architecture, proposed MySQL schema, API route groups and assigned feature modules for the Fitness Challenge App.</a:t>
            </a:r>
          </a:p>
        </p:txBody>
      </p:sp>
      <p:sp>
        <p:nvSpPr>
          <p:cNvPr id="14" name="Text 11"/>
          <p:cNvSpPr/>
          <p:nvPr/>
        </p:nvSpPr>
        <p:spPr>
          <a:xfrm>
            <a:off x="868680" y="3611880"/>
            <a:ext cx="10378440" cy="1115568"/>
          </a:xfrm>
          <a:prstGeom prst="rect">
            <a:avLst/>
          </a:prstGeom>
          <a:solidFill>
            <a:srgbClr val="FAFCF0"/>
          </a:solidFill>
          <a:ln w="12700">
            <a:solidFill>
              <a:srgbClr val="176563"/>
            </a:solidFill>
          </a:ln>
        </p:spPr>
        <p:txBody>
          <a:bodyPr wrap="square" lIns="762" tIns="762" rIns="762" bIns="762" rtlCol="0" anchor="ctr">
            <a:normAutofit/>
          </a:bodyPr>
          <a:lstStyle/>
          <a:p>
            <a:r>
              <a:rPr sz="1800"/>
              <a:t>The supplied files contain no source code, database export, running API or Postman results. Next steps are to implement the endpoints, connect the Android client, and verify each module with recorded tests.</a:t>
            </a:r>
          </a:p>
        </p:txBody>
      </p:sp>
      <p:sp>
        <p:nvSpPr>
          <p:cNvPr id="15" name="Text 12"/>
          <p:cNvSpPr/>
          <p:nvPr/>
        </p:nvSpPr>
        <p:spPr>
          <a:xfrm>
            <a:off x="2011680" y="5029200"/>
            <a:ext cx="1463040" cy="658368"/>
          </a:xfrm>
          <a:prstGeom prst="rect">
            <a:avLst/>
          </a:prstGeom>
          <a:solidFill>
            <a:srgbClr val="FAFCF0"/>
          </a:solidFill>
          <a:ln w="15240">
            <a:solidFill>
              <a:srgbClr val="176563"/>
            </a:solidFill>
          </a:ln>
        </p:spPr>
        <p:txBody>
          <a:bodyPr wrap="square" lIns="762" tIns="762" rIns="762" bIns="762" rtlCol="0" anchor="ctr">
            <a:normAutofit/>
          </a:bodyPr>
          <a:lstStyle/>
          <a:p>
            <a:r>
              <a:rPr sz="1600" b="1"/>
              <a:t>BUILD</a:t>
            </a:r>
          </a:p>
          <a:p>
            <a:r>
              <a:rPr sz="1600" b="1"/>
              <a:t>APIs</a:t>
            </a:r>
          </a:p>
        </p:txBody>
      </p:sp>
      <p:sp>
        <p:nvSpPr>
          <p:cNvPr id="16" name="Text 13"/>
          <p:cNvSpPr/>
          <p:nvPr/>
        </p:nvSpPr>
        <p:spPr>
          <a:xfrm>
            <a:off x="3977640" y="5029200"/>
            <a:ext cx="1463040" cy="658368"/>
          </a:xfrm>
          <a:prstGeom prst="rect">
            <a:avLst/>
          </a:prstGeom>
          <a:solidFill>
            <a:srgbClr val="FAFCF0"/>
          </a:solidFill>
          <a:ln w="15240">
            <a:solidFill>
              <a:srgbClr val="9F303A"/>
            </a:solidFill>
          </a:ln>
        </p:spPr>
        <p:txBody>
          <a:bodyPr wrap="square" lIns="762" tIns="762" rIns="762" bIns="762" rtlCol="0" anchor="ctr">
            <a:normAutofit/>
          </a:bodyPr>
          <a:lstStyle/>
          <a:p>
            <a:r>
              <a:rPr sz="1600" b="1"/>
              <a:t>CONNECT</a:t>
            </a:r>
          </a:p>
          <a:p>
            <a:r>
              <a:rPr sz="1600" b="1"/>
              <a:t>CLIENT</a:t>
            </a:r>
          </a:p>
        </p:txBody>
      </p:sp>
      <p:sp>
        <p:nvSpPr>
          <p:cNvPr id="17" name="Text 14"/>
          <p:cNvSpPr/>
          <p:nvPr/>
        </p:nvSpPr>
        <p:spPr>
          <a:xfrm>
            <a:off x="5943600" y="5029200"/>
            <a:ext cx="1463040" cy="658368"/>
          </a:xfrm>
          <a:prstGeom prst="rect">
            <a:avLst/>
          </a:prstGeom>
          <a:solidFill>
            <a:srgbClr val="FAFCF0"/>
          </a:solidFill>
          <a:ln w="15240">
            <a:solidFill>
              <a:srgbClr val="176563"/>
            </a:solidFill>
          </a:ln>
        </p:spPr>
        <p:txBody>
          <a:bodyPr wrap="square" lIns="762" tIns="762" rIns="762" bIns="762" rtlCol="0" anchor="ctr">
            <a:normAutofit/>
          </a:bodyPr>
          <a:lstStyle/>
          <a:p>
            <a:r>
              <a:rPr sz="1600" b="1"/>
              <a:t>VERIFY</a:t>
            </a:r>
          </a:p>
          <a:p>
            <a:r>
              <a:rPr sz="1600" b="1"/>
              <a:t>TEST</a:t>
            </a:r>
          </a:p>
        </p:txBody>
      </p:sp>
      <p:sp>
        <p:nvSpPr>
          <p:cNvPr id="18" name="Text 15"/>
          <p:cNvSpPr/>
          <p:nvPr/>
        </p:nvSpPr>
        <p:spPr>
          <a:xfrm>
            <a:off x="8275320" y="5084064"/>
            <a:ext cx="2514600" cy="502920"/>
          </a:xfrm>
          <a:prstGeom prst="rect">
            <a:avLst/>
          </a:prstGeom>
          <a:solidFill>
            <a:srgbClr val="E8F0D6"/>
          </a:solidFill>
          <a:ln w="12700">
            <a:solidFill>
              <a:srgbClr val="9F303A"/>
            </a:solidFill>
          </a:ln>
        </p:spPr>
        <p:txBody>
          <a:bodyPr wrap="square" lIns="762" tIns="762" rIns="762" bIns="762" rtlCol="0" anchor="ctr">
            <a:normAutofit/>
          </a:bodyPr>
          <a:lstStyle/>
          <a:p>
            <a:r>
              <a:rPr sz="2400" b="1"/>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Lat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Lat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KL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OSSP Team 08 Project PPT</dc:title>
  <dc:subject>Linux Process Creation, Execution and Termination System</dc:subject>
  <dc:creator>Team 08 OSSP</dc:creator>
  <cp:lastModifiedBy>Team 08 OSSP</cp:lastModifiedBy>
  <cp:revision>1</cp:revision>
  <dcterms:created xsi:type="dcterms:W3CDTF">2026-09-01T02:52:41Z</dcterms:created>
  <dcterms:modified xsi:type="dcterms:W3CDTF">2026-09-01T02:52:41Z</dcterms:modified>
</cp:coreProperties>
</file>